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22" r:id="rId5"/>
    <p:sldId id="323" r:id="rId6"/>
    <p:sldId id="325" r:id="rId7"/>
    <p:sldId id="326" r:id="rId8"/>
    <p:sldId id="328" r:id="rId9"/>
    <p:sldId id="330" r:id="rId10"/>
    <p:sldId id="310" r:id="rId11"/>
    <p:sldId id="32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3C85B-3DDA-461E-BF03-2BA549007F4A}" v="1" dt="2026-01-30T17:01:52.888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84284" autoAdjust="0"/>
  </p:normalViewPr>
  <p:slideViewPr>
    <p:cSldViewPr snapToGrid="0">
      <p:cViewPr>
        <p:scale>
          <a:sx n="80" d="100"/>
          <a:sy n="80" d="100"/>
        </p:scale>
        <p:origin x="555" y="-19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Jones" userId="4347cae8-7c2b-4706-9465-46f5e461052a" providerId="ADAL" clId="{23AD2B71-142B-4412-B515-82A4DB346E58}"/>
    <pc:docChg chg="undo custSel modSld">
      <pc:chgData name="Madison Jones" userId="4347cae8-7c2b-4706-9465-46f5e461052a" providerId="ADAL" clId="{23AD2B71-142B-4412-B515-82A4DB346E58}" dt="2026-01-30T17:01:52.872" v="217" actId="20577"/>
      <pc:docMkLst>
        <pc:docMk/>
      </pc:docMkLst>
      <pc:sldChg chg="modNotesTx">
        <pc:chgData name="Madison Jones" userId="4347cae8-7c2b-4706-9465-46f5e461052a" providerId="ADAL" clId="{23AD2B71-142B-4412-B515-82A4DB346E58}" dt="2026-01-30T17:00:07.678" v="128" actId="20577"/>
        <pc:sldMkLst>
          <pc:docMk/>
          <pc:sldMk cId="3618505045" sldId="323"/>
        </pc:sldMkLst>
      </pc:sldChg>
      <pc:sldChg chg="modNotesTx">
        <pc:chgData name="Madison Jones" userId="4347cae8-7c2b-4706-9465-46f5e461052a" providerId="ADAL" clId="{23AD2B71-142B-4412-B515-82A4DB346E58}" dt="2026-01-30T16:57:10.119" v="98" actId="20577"/>
        <pc:sldMkLst>
          <pc:docMk/>
          <pc:sldMk cId="3226776561" sldId="326"/>
        </pc:sldMkLst>
      </pc:sldChg>
      <pc:sldChg chg="modSp mod">
        <pc:chgData name="Madison Jones" userId="4347cae8-7c2b-4706-9465-46f5e461052a" providerId="ADAL" clId="{23AD2B71-142B-4412-B515-82A4DB346E58}" dt="2026-01-30T17:01:27.124" v="213" actId="20577"/>
        <pc:sldMkLst>
          <pc:docMk/>
          <pc:sldMk cId="791322745" sldId="328"/>
        </pc:sldMkLst>
        <pc:spChg chg="mod">
          <ac:chgData name="Madison Jones" userId="4347cae8-7c2b-4706-9465-46f5e461052a" providerId="ADAL" clId="{23AD2B71-142B-4412-B515-82A4DB346E58}" dt="2026-01-30T17:01:27.124" v="213" actId="20577"/>
          <ac:spMkLst>
            <pc:docMk/>
            <pc:sldMk cId="791322745" sldId="328"/>
            <ac:spMk id="3" creationId="{31C2731E-6B29-F3D8-06CD-6A12EA1EC1EC}"/>
          </ac:spMkLst>
        </pc:spChg>
      </pc:sldChg>
      <pc:sldChg chg="modSp mod">
        <pc:chgData name="Madison Jones" userId="4347cae8-7c2b-4706-9465-46f5e461052a" providerId="ADAL" clId="{23AD2B71-142B-4412-B515-82A4DB346E58}" dt="2026-01-30T17:01:52.872" v="217" actId="20577"/>
        <pc:sldMkLst>
          <pc:docMk/>
          <pc:sldMk cId="103979964" sldId="329"/>
        </pc:sldMkLst>
        <pc:spChg chg="mod">
          <ac:chgData name="Madison Jones" userId="4347cae8-7c2b-4706-9465-46f5e461052a" providerId="ADAL" clId="{23AD2B71-142B-4412-B515-82A4DB346E58}" dt="2026-01-30T17:01:52.872" v="217" actId="20577"/>
          <ac:spMkLst>
            <pc:docMk/>
            <pc:sldMk cId="103979964" sldId="329"/>
            <ac:spMk id="3" creationId="{80154918-16C4-1BF1-A4A1-4DF2371F76C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Pew research center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8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 could be mean ELA score, % of level 1-4 (done individually or lumped together by 1 2 or 3 4)</a:t>
            </a:r>
          </a:p>
          <a:p>
            <a:endParaRPr lang="en-US" dirty="0"/>
          </a:p>
          <a:p>
            <a:r>
              <a:rPr lang="en-US" dirty="0"/>
              <a:t>With hundreds of schools, DID averages the differences from treated and untreated schools which then gets the DID estimate </a:t>
            </a:r>
          </a:p>
          <a:p>
            <a:r>
              <a:rPr lang="en-US" dirty="0"/>
              <a:t>	- </a:t>
            </a:r>
            <a:r>
              <a:rPr lang="en-US" dirty="0" err="1"/>
              <a:t>Dif</a:t>
            </a:r>
            <a:r>
              <a:rPr lang="en-US" dirty="0"/>
              <a:t> Y = </a:t>
            </a:r>
            <a:r>
              <a:rPr lang="en-US" dirty="0" err="1"/>
              <a:t>Ypost</a:t>
            </a:r>
            <a:r>
              <a:rPr lang="en-US" dirty="0"/>
              <a:t> – </a:t>
            </a:r>
            <a:r>
              <a:rPr lang="en-US" dirty="0" err="1"/>
              <a:t>Ypre</a:t>
            </a:r>
            <a:endParaRPr lang="en-US" dirty="0"/>
          </a:p>
          <a:p>
            <a:endParaRPr lang="en-US" dirty="0"/>
          </a:p>
          <a:p>
            <a:r>
              <a:rPr lang="en-US" dirty="0"/>
              <a:t>Fixed effects: controlling for things that don’t change over the years</a:t>
            </a:r>
          </a:p>
          <a:p>
            <a:r>
              <a:rPr lang="en-US" dirty="0"/>
              <a:t>Group fixed effects: controls for things that don’t change over time (ex. Neighborhood)</a:t>
            </a:r>
          </a:p>
          <a:p>
            <a:r>
              <a:rPr lang="en-US" dirty="0"/>
              <a:t>Year (time) fixed effects: fixed effects for time period you’re in (pre-COVID &amp; post-COVID)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4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effectbook.net/ch-DifferenceinDifference.html" TargetMode="External"/><Relationship Id="rId2" Type="http://schemas.openxmlformats.org/officeDocument/2006/relationships/hyperlink" Target="http://www.pewresearch.org/short-reads/2020/03/16/as-schools-close-due-to-the-coronavirus-some-u-s-students-face-a-digital-homework-gap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ata.cityofnewyork.us/Education/English-Language-Arts-ELA-Test-Results-2013-2023/iebs-5yhr/about_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713229"/>
            <a:ext cx="9804597" cy="5253089"/>
          </a:xfrm>
        </p:spPr>
        <p:txBody>
          <a:bodyPr>
            <a:normAutofit/>
          </a:bodyPr>
          <a:lstStyle/>
          <a:p>
            <a:r>
              <a:rPr lang="en-US" sz="4800" dirty="0"/>
              <a:t>Impact of COVID-19 on ELA Student Achievement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209B9A-DF93-3149-D72D-33DCE96AAECE}"/>
              </a:ext>
            </a:extLst>
          </p:cNvPr>
          <p:cNvSpPr txBox="1"/>
          <p:nvPr/>
        </p:nvSpPr>
        <p:spPr>
          <a:xfrm>
            <a:off x="1317615" y="5844323"/>
            <a:ext cx="3680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Madison Jones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Master’s Project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03C8-183B-8283-C407-EC101669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Problem, Motivation, and Impact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327B-3F86-7455-57C9-0A7223EE9D5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Analyzed impacts of COVID-19 on education, particularly ELA scores</a:t>
            </a:r>
          </a:p>
          <a:p>
            <a:r>
              <a:rPr lang="en-US" dirty="0"/>
              <a:t>How COVID-19 </a:t>
            </a:r>
            <a:r>
              <a:rPr lang="en-US" b="1" dirty="0"/>
              <a:t>broadened the gap </a:t>
            </a:r>
            <a:r>
              <a:rPr lang="en-US" dirty="0"/>
              <a:t>in education and learning-loss</a:t>
            </a:r>
          </a:p>
          <a:p>
            <a:r>
              <a:rPr lang="en-US" dirty="0"/>
              <a:t>Hypothesize scores will decrease in post-COVID school years, particularly in low-income, disadvantaged communities</a:t>
            </a:r>
          </a:p>
          <a:p>
            <a:pPr lvl="1"/>
            <a:r>
              <a:rPr lang="en-US" dirty="0"/>
              <a:t>The “</a:t>
            </a:r>
            <a:r>
              <a:rPr lang="en-US" b="1" dirty="0"/>
              <a:t>homework gap</a:t>
            </a:r>
            <a:r>
              <a:rPr lang="en-US" dirty="0"/>
              <a:t>”: school-aged children lacking resources (i.e. the internet) to complete assignments</a:t>
            </a:r>
          </a:p>
          <a:p>
            <a:pPr marL="0" indent="0">
              <a:buNone/>
            </a:pPr>
            <a:r>
              <a:rPr lang="en-US" dirty="0"/>
              <a:t>___________________________________________________________________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Shows discrepancies in different public-school systems </a:t>
            </a:r>
          </a:p>
          <a:p>
            <a:r>
              <a:rPr lang="en-US" dirty="0"/>
              <a:t>Can influence resource allocation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35BC5-ABC7-BF14-0E23-A6A405B00A7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50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D953-B92C-0D68-49AB-5A258587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9804-779D-1166-6B0C-F8914200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F3DA1-B19B-5864-6F0E-659B2CF031C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NYC OpenData ELA scores from 2013-2023</a:t>
            </a:r>
          </a:p>
          <a:p>
            <a:pPr lvl="1"/>
            <a:r>
              <a:rPr lang="en-US" dirty="0"/>
              <a:t>Due to consistency, years 2018-2022 will be compared</a:t>
            </a:r>
          </a:p>
          <a:p>
            <a:pPr lvl="1"/>
            <a:r>
              <a:rPr lang="en-US" dirty="0"/>
              <a:t>No testing during COVID, optional testing in 2021</a:t>
            </a:r>
          </a:p>
          <a:p>
            <a:r>
              <a:rPr lang="en-US" b="1" dirty="0"/>
              <a:t>Data</a:t>
            </a:r>
          </a:p>
          <a:p>
            <a:pPr lvl="1"/>
            <a:r>
              <a:rPr lang="en-US" dirty="0"/>
              <a:t>School name, grade, year</a:t>
            </a:r>
          </a:p>
          <a:p>
            <a:pPr lvl="1"/>
            <a:r>
              <a:rPr lang="en-US" b="1" dirty="0"/>
              <a:t>Level 1 (# and %)</a:t>
            </a:r>
            <a:r>
              <a:rPr lang="en-US" dirty="0"/>
              <a:t>: Not meeting learning standards</a:t>
            </a:r>
          </a:p>
          <a:p>
            <a:pPr lvl="1"/>
            <a:r>
              <a:rPr lang="en-US" b="1" dirty="0"/>
              <a:t>Level 2 (# and %): </a:t>
            </a:r>
            <a:r>
              <a:rPr lang="en-US" dirty="0"/>
              <a:t>Partially meeting learning standards</a:t>
            </a:r>
          </a:p>
          <a:p>
            <a:pPr lvl="1"/>
            <a:r>
              <a:rPr lang="en-US" b="1" dirty="0"/>
              <a:t>Level 3 (# and %): </a:t>
            </a:r>
            <a:r>
              <a:rPr lang="en-US" dirty="0"/>
              <a:t>Meeting learning standards</a:t>
            </a:r>
          </a:p>
          <a:p>
            <a:pPr lvl="1"/>
            <a:r>
              <a:rPr lang="en-US" b="1" dirty="0"/>
              <a:t>Level 4 (# and %): </a:t>
            </a:r>
            <a:r>
              <a:rPr lang="en-US" dirty="0"/>
              <a:t>Meeting learning standards with distinction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2C88C-2A4E-D598-277C-4892BF55277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06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6735-365E-9BEA-FB0A-74436AD0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2DFD-4BF5-707A-2D22-364098E8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BA91E-FFA5-3F76-8F0D-FA151F061F19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Two-way fixed effects, difference-in-difference regression</a:t>
                </a:r>
              </a:p>
              <a:p>
                <a:pPr lvl="1"/>
                <a:r>
                  <a:rPr lang="en-US" b="1" dirty="0"/>
                  <a:t>Potential treatment:</a:t>
                </a:r>
                <a:r>
                  <a:rPr lang="en-US" dirty="0"/>
                  <a:t> underperforming schools pre-pandemic (pre-existing vulnerability), high poverty</a:t>
                </a:r>
              </a:p>
              <a:p>
                <a:r>
                  <a:rPr lang="en-US" dirty="0"/>
                  <a:t>Estimates if treatment schools (underperforming) experienced larger post-COVID changes in ELA scores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𝑇𝑟𝑒𝑎𝑡𝑒𝑑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BA91E-FFA5-3F76-8F0D-FA151F061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3"/>
                <a:stretch>
                  <a:fillRect l="-1711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D891E-83C0-828E-B598-CA68833D026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2BD1A4-1D26-0CCC-FA93-29F4407E6B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4586677"/>
                  </p:ext>
                </p:extLst>
              </p:nvPr>
            </p:nvGraphicFramePr>
            <p:xfrm>
              <a:off x="4135924" y="4683701"/>
              <a:ext cx="3920152" cy="1495552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552677">
                      <a:extLst>
                        <a:ext uri="{9D8B030D-6E8A-4147-A177-3AD203B41FA5}">
                          <a16:colId xmlns:a16="http://schemas.microsoft.com/office/drawing/2014/main" val="1927688399"/>
                        </a:ext>
                      </a:extLst>
                    </a:gridCol>
                    <a:gridCol w="3367475">
                      <a:extLst>
                        <a:ext uri="{9D8B030D-6E8A-4147-A177-3AD203B41FA5}">
                          <a16:colId xmlns:a16="http://schemas.microsoft.com/office/drawing/2014/main" val="1754568298"/>
                        </a:ext>
                      </a:extLst>
                    </a:gridCol>
                  </a:tblGrid>
                  <a:tr h="33747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Outcome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2708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Group (school) fixed effects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70919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Year fixed effects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16121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DID estimate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6838853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2BD1A4-1D26-0CCC-FA93-29F4407E6B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4586677"/>
                  </p:ext>
                </p:extLst>
              </p:nvPr>
            </p:nvGraphicFramePr>
            <p:xfrm>
              <a:off x="4135924" y="4683701"/>
              <a:ext cx="3920152" cy="1495552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552677">
                      <a:extLst>
                        <a:ext uri="{9D8B030D-6E8A-4147-A177-3AD203B41FA5}">
                          <a16:colId xmlns:a16="http://schemas.microsoft.com/office/drawing/2014/main" val="1927688399"/>
                        </a:ext>
                      </a:extLst>
                    </a:gridCol>
                    <a:gridCol w="3367475">
                      <a:extLst>
                        <a:ext uri="{9D8B030D-6E8A-4147-A177-3AD203B41FA5}">
                          <a16:colId xmlns:a16="http://schemas.microsoft.com/office/drawing/2014/main" val="175456829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667" r="-608791" b="-3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Outcome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2708888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0000" r="-608791" b="-2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Group (school) fixed effects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70919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9836" r="-608791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Year fixed effects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16121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t="-309836" r="-60879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DID estimate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683885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677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9466-45AF-916D-0E77-80C166DA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8186D-EDBB-7C23-EDD9-80DF2EFF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Deliverables, timeline, and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731E-6B29-F3D8-06CD-6A12EA1EC1E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Timeline:</a:t>
            </a:r>
          </a:p>
          <a:p>
            <a:r>
              <a:rPr lang="en-US" b="1" dirty="0"/>
              <a:t>Data compiled and prepared for EDA by mid-February</a:t>
            </a:r>
          </a:p>
          <a:p>
            <a:r>
              <a:rPr lang="en-US" b="1" dirty="0"/>
              <a:t>Analysis beginning mid/end of February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Deliverables:</a:t>
            </a:r>
          </a:p>
          <a:p>
            <a:r>
              <a:rPr lang="en-US" dirty="0"/>
              <a:t>Report and poster containing EDA, methodology, and results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08171-DB0A-F034-34D2-4965BC497C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322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2220-82C9-D672-EE10-906ED7C6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7AA6-E5E0-5FEC-C8A7-511AD29A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6FCB5-136B-A2EC-0FDB-92C579F188F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Data from 2020-2021 difficult to find/use</a:t>
            </a:r>
          </a:p>
          <a:p>
            <a:r>
              <a:rPr lang="en-US" dirty="0"/>
              <a:t>Changes in standardized testing make years outside of 2018-2022 incomparable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09AA3-3D8A-D3A1-239E-54F64FD896C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62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EA76-E4FC-5AC3-DC62-8BDFE2E1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54918-16C4-1BF1-A4A1-4DF2371F76C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u="sng" dirty="0">
                <a:hlinkClick r:id="rId2"/>
              </a:rPr>
              <a:t>www.pewresearch.org/short-reads/2020/03/16/as-schools-close-due-to-the-coronavirus-some-u-s-students-face-a-digital-homework-gap/</a:t>
            </a:r>
            <a:r>
              <a:rPr lang="en-US" sz="1100" dirty="0"/>
              <a:t>.</a:t>
            </a:r>
          </a:p>
          <a:p>
            <a:pPr marL="0" indent="0">
              <a:buNone/>
            </a:pPr>
            <a:r>
              <a:rPr lang="en-US" sz="1100" dirty="0">
                <a:hlinkClick r:id="rId3"/>
              </a:rPr>
              <a:t>https://theeffectbook.net/ch-DifferenceinDifference.html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Data:</a:t>
            </a:r>
          </a:p>
          <a:p>
            <a:pPr marL="0" indent="0">
              <a:buNone/>
            </a:pPr>
            <a:r>
              <a:rPr lang="en-US" sz="1100" dirty="0">
                <a:hlinkClick r:id="rId4"/>
              </a:rPr>
              <a:t>https://data.cityofnewyork.us/Education/English-Language-Arts-ELA-Test-Results-2013-2023/iebs-5yhr/about_data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9E2C1-A6D9-27B5-199F-B5002EBA35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9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{940D148E-BC72-4D86-B872-3E82B9AB2F6D}TF3977e381-cba5-49b1-ba43-b5d865517af907ebbda9_win32-372d4d6ae720</Template>
  <TotalTime>3878</TotalTime>
  <Words>426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Tisa Offc Serif Pro</vt:lpstr>
      <vt:lpstr>Univers Light</vt:lpstr>
      <vt:lpstr>Custom</vt:lpstr>
      <vt:lpstr>Impact of COVID-19 on ELA Student Achievement </vt:lpstr>
      <vt:lpstr>Problem, Motivation, and Impact </vt:lpstr>
      <vt:lpstr>Data Description</vt:lpstr>
      <vt:lpstr>Methodology and Evaluation</vt:lpstr>
      <vt:lpstr>Deliverables, timeline, and milestones</vt:lpstr>
      <vt:lpstr>Challenges and limitations</vt:lpstr>
      <vt:lpstr>Thank you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2026-01-28T00:23:40Z</dcterms:created>
  <dcterms:modified xsi:type="dcterms:W3CDTF">2026-01-30T17:02:00Z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