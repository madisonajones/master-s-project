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2" r:id="rId5"/>
    <p:sldId id="323" r:id="rId6"/>
    <p:sldId id="325" r:id="rId7"/>
    <p:sldId id="324" r:id="rId8"/>
    <p:sldId id="326" r:id="rId9"/>
    <p:sldId id="327" r:id="rId10"/>
    <p:sldId id="329" r:id="rId11"/>
    <p:sldId id="32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067EA2-15DB-4EF4-B2A2-6C9E552F9580}" v="8" dt="2026-02-06T21:05:20.291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5388" autoAdjust="0"/>
  </p:normalViewPr>
  <p:slideViewPr>
    <p:cSldViewPr snapToGrid="0">
      <p:cViewPr varScale="1">
        <p:scale>
          <a:sx n="84" d="100"/>
          <a:sy n="84" d="100"/>
        </p:scale>
        <p:origin x="180" y="4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custSel addSld modSld">
      <pc:chgData name="Madison Jones" userId="4347cae8-7c2b-4706-9465-46f5e461052a" providerId="ADAL" clId="{23AD2B71-142B-4412-B515-82A4DB346E58}" dt="2026-02-06T22:16:24.318" v="742" actId="20577"/>
      <pc:docMkLst>
        <pc:docMk/>
      </pc:docMkLst>
      <pc:sldChg chg="modSp mod">
        <pc:chgData name="Madison Jones" userId="4347cae8-7c2b-4706-9465-46f5e461052a" providerId="ADAL" clId="{23AD2B71-142B-4412-B515-82A4DB346E58}" dt="2026-02-06T01:26:59.046" v="598" actId="20577"/>
        <pc:sldMkLst>
          <pc:docMk/>
          <pc:sldMk cId="622134" sldId="323"/>
        </pc:sldMkLst>
        <pc:spChg chg="mod">
          <ac:chgData name="Madison Jones" userId="4347cae8-7c2b-4706-9465-46f5e461052a" providerId="ADAL" clId="{23AD2B71-142B-4412-B515-82A4DB346E58}" dt="2026-02-06T01:26:59.046" v="598" actId="20577"/>
          <ac:spMkLst>
            <pc:docMk/>
            <pc:sldMk cId="622134" sldId="323"/>
            <ac:spMk id="3" creationId="{C162479D-20BE-056D-6AC2-7DD1E223B31E}"/>
          </ac:spMkLst>
        </pc:spChg>
      </pc:sldChg>
      <pc:sldChg chg="modSp mod">
        <pc:chgData name="Madison Jones" userId="4347cae8-7c2b-4706-9465-46f5e461052a" providerId="ADAL" clId="{23AD2B71-142B-4412-B515-82A4DB346E58}" dt="2026-02-06T21:05:20.291" v="717" actId="20577"/>
        <pc:sldMkLst>
          <pc:docMk/>
          <pc:sldMk cId="1422218581" sldId="324"/>
        </pc:sldMkLst>
        <pc:spChg chg="mod">
          <ac:chgData name="Madison Jones" userId="4347cae8-7c2b-4706-9465-46f5e461052a" providerId="ADAL" clId="{23AD2B71-142B-4412-B515-82A4DB346E58}" dt="2026-02-06T21:05:20.291" v="717" actId="20577"/>
          <ac:spMkLst>
            <pc:docMk/>
            <pc:sldMk cId="1422218581" sldId="324"/>
            <ac:spMk id="3" creationId="{851409F5-51DB-F80E-D8A0-DEAE91F76955}"/>
          </ac:spMkLst>
        </pc:spChg>
      </pc:sldChg>
      <pc:sldChg chg="modSp mod">
        <pc:chgData name="Madison Jones" userId="4347cae8-7c2b-4706-9465-46f5e461052a" providerId="ADAL" clId="{23AD2B71-142B-4412-B515-82A4DB346E58}" dt="2026-02-06T01:26:15.026" v="590" actId="113"/>
        <pc:sldMkLst>
          <pc:docMk/>
          <pc:sldMk cId="1314242338" sldId="327"/>
        </pc:sldMkLst>
        <pc:spChg chg="mod">
          <ac:chgData name="Madison Jones" userId="4347cae8-7c2b-4706-9465-46f5e461052a" providerId="ADAL" clId="{23AD2B71-142B-4412-B515-82A4DB346E58}" dt="2026-02-05T03:33:21" v="134" actId="20577"/>
          <ac:spMkLst>
            <pc:docMk/>
            <pc:sldMk cId="1314242338" sldId="327"/>
            <ac:spMk id="2" creationId="{5BB703E3-A89D-CC91-702C-DA0FF1B92FDE}"/>
          </ac:spMkLst>
        </pc:spChg>
        <pc:spChg chg="mod">
          <ac:chgData name="Madison Jones" userId="4347cae8-7c2b-4706-9465-46f5e461052a" providerId="ADAL" clId="{23AD2B71-142B-4412-B515-82A4DB346E58}" dt="2026-02-06T01:26:15.026" v="590" actId="113"/>
          <ac:spMkLst>
            <pc:docMk/>
            <pc:sldMk cId="1314242338" sldId="327"/>
            <ac:spMk id="3" creationId="{13339C5C-7F77-4639-00D0-6F83315728A0}"/>
          </ac:spMkLst>
        </pc:spChg>
      </pc:sldChg>
      <pc:sldChg chg="modSp new mod">
        <pc:chgData name="Madison Jones" userId="4347cae8-7c2b-4706-9465-46f5e461052a" providerId="ADAL" clId="{23AD2B71-142B-4412-B515-82A4DB346E58}" dt="2026-02-05T03:37:48.514" v="440" actId="20577"/>
        <pc:sldMkLst>
          <pc:docMk/>
          <pc:sldMk cId="78501370" sldId="328"/>
        </pc:sldMkLst>
        <pc:spChg chg="mod">
          <ac:chgData name="Madison Jones" userId="4347cae8-7c2b-4706-9465-46f5e461052a" providerId="ADAL" clId="{23AD2B71-142B-4412-B515-82A4DB346E58}" dt="2026-02-05T03:37:44.760" v="428" actId="20577"/>
          <ac:spMkLst>
            <pc:docMk/>
            <pc:sldMk cId="78501370" sldId="328"/>
            <ac:spMk id="2" creationId="{A3FAD24D-DBFC-E29A-772F-4893049417B5}"/>
          </ac:spMkLst>
        </pc:spChg>
        <pc:spChg chg="mod">
          <ac:chgData name="Madison Jones" userId="4347cae8-7c2b-4706-9465-46f5e461052a" providerId="ADAL" clId="{23AD2B71-142B-4412-B515-82A4DB346E58}" dt="2026-02-05T03:37:48.514" v="440" actId="20577"/>
          <ac:spMkLst>
            <pc:docMk/>
            <pc:sldMk cId="78501370" sldId="328"/>
            <ac:spMk id="3" creationId="{2D13D7B4-CA05-320B-CE77-9199E572AF41}"/>
          </ac:spMkLst>
        </pc:spChg>
      </pc:sldChg>
      <pc:sldChg chg="modSp add mod">
        <pc:chgData name="Madison Jones" userId="4347cae8-7c2b-4706-9465-46f5e461052a" providerId="ADAL" clId="{23AD2B71-142B-4412-B515-82A4DB346E58}" dt="2026-02-06T22:16:24.318" v="742" actId="20577"/>
        <pc:sldMkLst>
          <pc:docMk/>
          <pc:sldMk cId="1030211270" sldId="329"/>
        </pc:sldMkLst>
        <pc:spChg chg="mod">
          <ac:chgData name="Madison Jones" userId="4347cae8-7c2b-4706-9465-46f5e461052a" providerId="ADAL" clId="{23AD2B71-142B-4412-B515-82A4DB346E58}" dt="2026-02-06T21:03:59.714" v="672" actId="20577"/>
          <ac:spMkLst>
            <pc:docMk/>
            <pc:sldMk cId="1030211270" sldId="329"/>
            <ac:spMk id="2" creationId="{B0EAD6AD-1500-C2D2-CD47-177BA1438AFA}"/>
          </ac:spMkLst>
        </pc:spChg>
        <pc:spChg chg="mod">
          <ac:chgData name="Madison Jones" userId="4347cae8-7c2b-4706-9465-46f5e461052a" providerId="ADAL" clId="{23AD2B71-142B-4412-B515-82A4DB346E58}" dt="2026-02-06T22:16:24.318" v="742" actId="20577"/>
          <ac:spMkLst>
            <pc:docMk/>
            <pc:sldMk cId="1030211270" sldId="329"/>
            <ac:spMk id="3" creationId="{BD37D357-411B-89A9-0A98-DDD3DA57106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7826385" cy="5253089"/>
          </a:xfrm>
        </p:spPr>
        <p:txBody>
          <a:bodyPr>
            <a:normAutofit/>
          </a:bodyPr>
          <a:lstStyle/>
          <a:p>
            <a:r>
              <a:rPr lang="en-US" sz="4800" dirty="0"/>
              <a:t>Impact of COVID-19 on ELA Student Achievement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DACAA-4B41-1D5A-B706-75714082EA05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 Proposal, cont. 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A4CC-5ED4-C1F0-CD9F-C21CE02F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2479D-20BE-056D-6AC2-7DD1E223B31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How COVID-19 broadened the gap in education and learning-loss in English Language Arts (ELA)</a:t>
            </a:r>
          </a:p>
          <a:p>
            <a:r>
              <a:rPr lang="en-US" dirty="0"/>
              <a:t>Hypothesize scores will decrease in post-COVID school years, particularly in low-income, disadvantaged communities</a:t>
            </a:r>
          </a:p>
          <a:p>
            <a:pPr lvl="1"/>
            <a:r>
              <a:rPr lang="en-US" dirty="0"/>
              <a:t>The “</a:t>
            </a:r>
            <a:r>
              <a:rPr lang="en-US" b="1" dirty="0"/>
              <a:t>homework gap</a:t>
            </a:r>
            <a:r>
              <a:rPr lang="en-US" dirty="0"/>
              <a:t>”: school-aged children lacking resources (i.e. the internet) to complete assignments</a:t>
            </a:r>
          </a:p>
          <a:p>
            <a:pPr lvl="1"/>
            <a:endParaRPr lang="en-US" dirty="0"/>
          </a:p>
          <a:p>
            <a:r>
              <a:rPr lang="en-US" dirty="0"/>
              <a:t>Shows discrepancies in different public-school systems </a:t>
            </a:r>
          </a:p>
          <a:p>
            <a:r>
              <a:rPr lang="en-US" dirty="0"/>
              <a:t>Can influence resource allocation and affect education policy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8D082-9556-D077-D51A-D1B0752C26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ED44-8086-97F7-1243-EA19D339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Variables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46F6B-D5D9-754B-6668-C971B54A56A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NYC </a:t>
            </a:r>
            <a:r>
              <a:rPr lang="en-US" b="1" dirty="0" err="1"/>
              <a:t>OpenData</a:t>
            </a:r>
            <a:r>
              <a:rPr lang="en-US" b="1" dirty="0"/>
              <a:t> ELA scores from 2013-2023</a:t>
            </a:r>
          </a:p>
          <a:p>
            <a:pPr lvl="1"/>
            <a:r>
              <a:rPr lang="en-US" dirty="0"/>
              <a:t>Due to consistency, years 2018-2022 will be compared</a:t>
            </a:r>
          </a:p>
          <a:p>
            <a:pPr lvl="1"/>
            <a:r>
              <a:rPr lang="en-US" dirty="0"/>
              <a:t>No testing during COVID, optional testing in 2021</a:t>
            </a:r>
          </a:p>
          <a:p>
            <a:r>
              <a:rPr lang="en-US" b="1" dirty="0"/>
              <a:t>Variables</a:t>
            </a:r>
          </a:p>
          <a:p>
            <a:pPr lvl="1"/>
            <a:r>
              <a:rPr lang="en-US" dirty="0"/>
              <a:t>School name, school ID, grade, year, number of students tested </a:t>
            </a:r>
          </a:p>
          <a:p>
            <a:pPr lvl="1"/>
            <a:r>
              <a:rPr lang="en-US" b="1" dirty="0"/>
              <a:t>Level 1 (# and %)</a:t>
            </a:r>
            <a:r>
              <a:rPr lang="en-US" dirty="0"/>
              <a:t>: Not meeting learning standards</a:t>
            </a:r>
          </a:p>
          <a:p>
            <a:pPr lvl="1"/>
            <a:r>
              <a:rPr lang="en-US" b="1" dirty="0"/>
              <a:t>Level 2 (# and %): </a:t>
            </a:r>
            <a:r>
              <a:rPr lang="en-US" dirty="0"/>
              <a:t>Partially meeting learning standards</a:t>
            </a:r>
          </a:p>
          <a:p>
            <a:pPr lvl="1"/>
            <a:r>
              <a:rPr lang="en-US" b="1" dirty="0"/>
              <a:t>Level 3 (# and %): </a:t>
            </a:r>
            <a:r>
              <a:rPr lang="en-US" dirty="0"/>
              <a:t>Meeting learning standards</a:t>
            </a:r>
          </a:p>
          <a:p>
            <a:pPr lvl="1"/>
            <a:r>
              <a:rPr lang="en-US" b="1" dirty="0"/>
              <a:t>Level 4 (# and %): </a:t>
            </a:r>
            <a:r>
              <a:rPr lang="en-US" dirty="0"/>
              <a:t>Meeting learning standards with distinction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23B1C-6DCB-66BB-2C9E-9882217EF6D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4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9C3A-1D6D-896F-A63A-6DFE93D2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409F5-51DB-F80E-D8A0-DEAE91F76955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Two-way fixed effects difference-in-difference model with treatment</a:t>
                </a:r>
              </a:p>
              <a:p>
                <a:pPr lvl="1"/>
                <a:r>
                  <a:rPr lang="en-US" dirty="0"/>
                  <a:t>“</a:t>
                </a:r>
                <a:r>
                  <a:rPr lang="en-US" b="1" dirty="0"/>
                  <a:t>Treatment</a:t>
                </a:r>
                <a:r>
                  <a:rPr lang="en-US" dirty="0"/>
                  <a:t>”: Binary variable of vulnerable schools, classified using pre-COVID data (2018/2019) based the percentage of Level 1 and Level 2 students. </a:t>
                </a:r>
              </a:p>
              <a:p>
                <a:r>
                  <a:rPr lang="en-US" dirty="0"/>
                  <a:t>Python </a:t>
                </a:r>
                <a:r>
                  <a:rPr lang="en-US" dirty="0" err="1"/>
                  <a:t>linearmodels</a:t>
                </a:r>
                <a:r>
                  <a:rPr lang="en-US" dirty="0"/>
                  <a:t> package PanelOLS</a:t>
                </a:r>
              </a:p>
              <a:p>
                <a:pPr lvl="1"/>
                <a:r>
                  <a:rPr lang="en-US" dirty="0"/>
                  <a:t>Controls for school-based and year fixed effects (constants)</a:t>
                </a:r>
              </a:p>
              <a:p>
                <a:pPr lvl="1"/>
                <a:r>
                  <a:rPr lang="en-US" dirty="0"/>
                  <a:t>Includes a weight to control for number of students tested </a:t>
                </a:r>
              </a:p>
              <a:p>
                <a:r>
                  <a:rPr lang="en-US" b="1" dirty="0"/>
                  <a:t>Output</a:t>
                </a:r>
                <a:r>
                  <a:rPr lang="en-US" dirty="0"/>
                  <a:t>: PanelOLS Estimation Summary, score change in treated schools minus score change in untreated schools (DID parameter, p-value,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F-stat)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409F5-51DB-F80E-D8A0-DEAE91F769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711" t="-1923" r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2A98A-44F8-DFDC-177C-CE5B53CFE6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1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D018-96F8-1BC8-DD2E-CA90D74C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11E2-CE4A-CE06-D5DE-D6BFA73F195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What is the PanelOLS Estimation Summary telling us? </a:t>
            </a:r>
          </a:p>
          <a:p>
            <a:pPr lvl="1"/>
            <a:r>
              <a:rPr lang="en-US" dirty="0"/>
              <a:t>This summary shows the DID parameter, standard error, t-statistic, p-value, and confidence interval, as well as a few descriptive statistics.</a:t>
            </a:r>
          </a:p>
          <a:p>
            <a:r>
              <a:rPr lang="en-US" b="1" dirty="0"/>
              <a:t>What about grade levels? </a:t>
            </a:r>
          </a:p>
          <a:p>
            <a:pPr lvl="1"/>
            <a:r>
              <a:rPr lang="en-US" dirty="0"/>
              <a:t>The goal is to perform similar models, filtered by grade levels. As a reminder, this data is grades 3 through 8. Younger children may be more affected by learning-loss during the pandemic!</a:t>
            </a:r>
          </a:p>
          <a:p>
            <a:r>
              <a:rPr lang="en-US" b="1" dirty="0"/>
              <a:t>What about testing levels (Levels 1-4)?</a:t>
            </a:r>
          </a:p>
          <a:p>
            <a:pPr lvl="1"/>
            <a:r>
              <a:rPr lang="en-US" dirty="0"/>
              <a:t>I am planning on performing the same test with the levels as the outcome to evaluate changes in performance in a different way.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7050-13E4-B882-B056-A1A874FD4B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7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03E3-A89D-CC91-702C-DA0FF1B9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39C5C-7F77-4639-00D0-6F83315728A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Source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Data is from NYC </a:t>
            </a:r>
            <a:r>
              <a:rPr lang="en-US" dirty="0" err="1"/>
              <a:t>OpenData</a:t>
            </a:r>
            <a:r>
              <a:rPr lang="en-US" dirty="0"/>
              <a:t>. The data is cleaned and ready for use. </a:t>
            </a:r>
          </a:p>
          <a:p>
            <a:r>
              <a:rPr lang="en-US" b="1" dirty="0"/>
              <a:t>Usefulness</a:t>
            </a:r>
          </a:p>
          <a:p>
            <a:pPr lvl="1"/>
            <a:r>
              <a:rPr lang="en-US" dirty="0"/>
              <a:t>Data contains all necessary information for analysis and data manipulation.</a:t>
            </a:r>
          </a:p>
          <a:p>
            <a:r>
              <a:rPr lang="en-US" b="1" dirty="0"/>
              <a:t>Concerns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No testing in 2020, optional testing in 2021.</a:t>
            </a:r>
          </a:p>
          <a:p>
            <a:pPr lvl="1"/>
            <a:r>
              <a:rPr lang="en-US" dirty="0"/>
              <a:t>Might include 2021 due to weight being included in model, may not include based on outcome and potential data availability.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AF131-6A25-34DD-3CA8-8E4894C9DE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24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0964-36AB-52EC-78A2-48CC890C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D6AD-1500-C2D2-CD47-177BA143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D357-411B-89A9-0A98-DDD3DA57106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Timeline:</a:t>
            </a:r>
          </a:p>
          <a:p>
            <a:r>
              <a:rPr lang="en-US" dirty="0"/>
              <a:t>Data compiled and prepared for EDA by second week of February</a:t>
            </a:r>
          </a:p>
          <a:p>
            <a:r>
              <a:rPr lang="en-US" dirty="0"/>
              <a:t>Analysis beginning mid/end of February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Deliverables:</a:t>
            </a:r>
          </a:p>
          <a:p>
            <a:r>
              <a:rPr lang="en-US" dirty="0"/>
              <a:t>Report and poster containing EDA, methodology, and results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7CE4-FD46-8D09-82A5-5BB5274254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1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D24D-DBFC-E29A-772F-48930494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3D7B4-CA05-320B-CE77-9199E572A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85013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{940D148E-BC72-4D86-B872-3E82B9AB2F6D}TF3977e381-cba5-49b1-ba43-b5d865517af907ebbda9_win32-372d4d6ae720</Template>
  <TotalTime>1510</TotalTime>
  <Words>473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Tisa Offc Serif Pro</vt:lpstr>
      <vt:lpstr>Univers Light</vt:lpstr>
      <vt:lpstr>Custom</vt:lpstr>
      <vt:lpstr>Impact of COVID-19 on ELA Student Achievement </vt:lpstr>
      <vt:lpstr>Recap</vt:lpstr>
      <vt:lpstr>Data &amp; Variables Recap</vt:lpstr>
      <vt:lpstr>Methodology</vt:lpstr>
      <vt:lpstr>Methodology, cont.</vt:lpstr>
      <vt:lpstr>Data Source  </vt:lpstr>
      <vt:lpstr>Timeline &amp; Deliverables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2026-02-05T02:24:43Z</dcterms:created>
  <dcterms:modified xsi:type="dcterms:W3CDTF">2026-02-06T22:16:31Z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