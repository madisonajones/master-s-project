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23" r:id="rId6"/>
    <p:sldId id="324" r:id="rId7"/>
    <p:sldId id="326" r:id="rId8"/>
    <p:sldId id="327" r:id="rId9"/>
    <p:sldId id="325" r:id="rId10"/>
    <p:sldId id="3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C86CA-ACCC-484F-A659-1DBE5DC2AAC2}" v="1" dt="2026-03-27T18:46:24.452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5388" autoAdjust="0"/>
  </p:normalViewPr>
  <p:slideViewPr>
    <p:cSldViewPr snapToGrid="0">
      <p:cViewPr varScale="1">
        <p:scale>
          <a:sx n="84" d="100"/>
          <a:sy n="84" d="100"/>
        </p:scale>
        <p:origin x="351" y="4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son Jones" userId="4347cae8-7c2b-4706-9465-46f5e461052a" providerId="ADAL" clId="{23AD2B71-142B-4412-B515-82A4DB346E58}"/>
    <pc:docChg chg="custSel addSld delSld modSld">
      <pc:chgData name="Madison Jones" userId="4347cae8-7c2b-4706-9465-46f5e461052a" providerId="ADAL" clId="{23AD2B71-142B-4412-B515-82A4DB346E58}" dt="2026-03-27T18:46:24.452" v="636"/>
      <pc:docMkLst>
        <pc:docMk/>
      </pc:docMkLst>
      <pc:sldChg chg="del">
        <pc:chgData name="Madison Jones" userId="4347cae8-7c2b-4706-9465-46f5e461052a" providerId="ADAL" clId="{23AD2B71-142B-4412-B515-82A4DB346E58}" dt="2026-03-27T18:45:36.993" v="586" actId="2696"/>
        <pc:sldMkLst>
          <pc:docMk/>
          <pc:sldMk cId="1607455252" sldId="321"/>
        </pc:sldMkLst>
      </pc:sldChg>
      <pc:sldChg chg="addSp modSp mod">
        <pc:chgData name="Madison Jones" userId="4347cae8-7c2b-4706-9465-46f5e461052a" providerId="ADAL" clId="{23AD2B71-142B-4412-B515-82A4DB346E58}" dt="2026-03-27T18:46:24.452" v="636"/>
        <pc:sldMkLst>
          <pc:docMk/>
          <pc:sldMk cId="3378822495" sldId="322"/>
        </pc:sldMkLst>
        <pc:spChg chg="mod">
          <ac:chgData name="Madison Jones" userId="4347cae8-7c2b-4706-9465-46f5e461052a" providerId="ADAL" clId="{23AD2B71-142B-4412-B515-82A4DB346E58}" dt="2026-03-27T18:46:10.522" v="635" actId="255"/>
          <ac:spMkLst>
            <pc:docMk/>
            <pc:sldMk cId="3378822495" sldId="322"/>
            <ac:spMk id="2" creationId="{75454C9E-20FB-B999-9303-C71D1334BAD7}"/>
          </ac:spMkLst>
        </pc:spChg>
        <pc:spChg chg="add mod">
          <ac:chgData name="Madison Jones" userId="4347cae8-7c2b-4706-9465-46f5e461052a" providerId="ADAL" clId="{23AD2B71-142B-4412-B515-82A4DB346E58}" dt="2026-03-27T18:46:24.452" v="636"/>
          <ac:spMkLst>
            <pc:docMk/>
            <pc:sldMk cId="3378822495" sldId="322"/>
            <ac:spMk id="3" creationId="{B355FCC9-E368-C3E3-899B-98F3509E2232}"/>
          </ac:spMkLst>
        </pc:spChg>
      </pc:sldChg>
      <pc:sldChg chg="modSp mod">
        <pc:chgData name="Madison Jones" userId="4347cae8-7c2b-4706-9465-46f5e461052a" providerId="ADAL" clId="{23AD2B71-142B-4412-B515-82A4DB346E58}" dt="2026-03-26T22:23:25.844" v="550" actId="20577"/>
        <pc:sldMkLst>
          <pc:docMk/>
          <pc:sldMk cId="2910434183" sldId="325"/>
        </pc:sldMkLst>
        <pc:spChg chg="mod">
          <ac:chgData name="Madison Jones" userId="4347cae8-7c2b-4706-9465-46f5e461052a" providerId="ADAL" clId="{23AD2B71-142B-4412-B515-82A4DB346E58}" dt="2026-03-26T22:23:25.844" v="550" actId="20577"/>
          <ac:spMkLst>
            <pc:docMk/>
            <pc:sldMk cId="2910434183" sldId="325"/>
            <ac:spMk id="3" creationId="{64C4978C-4CD5-AAD3-1FCB-4C7CBFCF1AEC}"/>
          </ac:spMkLst>
        </pc:spChg>
      </pc:sldChg>
      <pc:sldChg chg="modSp new mod">
        <pc:chgData name="Madison Jones" userId="4347cae8-7c2b-4706-9465-46f5e461052a" providerId="ADAL" clId="{23AD2B71-142B-4412-B515-82A4DB346E58}" dt="2026-03-26T22:23:40.790" v="585" actId="20577"/>
        <pc:sldMkLst>
          <pc:docMk/>
          <pc:sldMk cId="2370551810" sldId="328"/>
        </pc:sldMkLst>
        <pc:spChg chg="mod">
          <ac:chgData name="Madison Jones" userId="4347cae8-7c2b-4706-9465-46f5e461052a" providerId="ADAL" clId="{23AD2B71-142B-4412-B515-82A4DB346E58}" dt="2026-03-26T22:23:40.790" v="585" actId="20577"/>
          <ac:spMkLst>
            <pc:docMk/>
            <pc:sldMk cId="2370551810" sldId="328"/>
            <ac:spMk id="2" creationId="{5887AFDF-E344-E36C-6F35-A2F6AA8599CC}"/>
          </ac:spMkLst>
        </pc:spChg>
      </pc:sldChg>
      <pc:sldChg chg="new del">
        <pc:chgData name="Madison Jones" userId="4347cae8-7c2b-4706-9465-46f5e461052a" providerId="ADAL" clId="{23AD2B71-142B-4412-B515-82A4DB346E58}" dt="2026-03-26T22:23:32.574" v="552" actId="2696"/>
        <pc:sldMkLst>
          <pc:docMk/>
          <pc:sldMk cId="3169106866" sldId="3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>
            <a:normAutofit/>
          </a:bodyPr>
          <a:lstStyle/>
          <a:p>
            <a:r>
              <a:rPr lang="en-US" sz="4500" dirty="0"/>
              <a:t>Week 9: Updates and Going Forward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5FCC9-E368-C3E3-899B-98F3509E2232}"/>
              </a:ext>
            </a:extLst>
          </p:cNvPr>
          <p:cNvSpPr txBox="1"/>
          <p:nvPr/>
        </p:nvSpPr>
        <p:spPr>
          <a:xfrm>
            <a:off x="1317615" y="5844323"/>
            <a:ext cx="36803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Madison Jones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Master’s Project</a:t>
            </a:r>
          </a:p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3D43-8971-DEAF-021B-25982325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Model &amp; Review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678BE-BEC9-5BB2-92EE-ABC330B74550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Two-way fixed effects difference-in-difference model for years 2019 and 2022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𝑇𝑟𝑒𝑎𝑡𝑒𝑑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Parallel assumptions trend met within data for this method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𝑇𝑟𝑒𝑎𝑡𝑒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= Impoverished schools in the post period (2022)</a:t>
                </a:r>
              </a:p>
              <a:p>
                <a:r>
                  <a:rPr lang="en-US" dirty="0"/>
                  <a:t>Basic model, simply uses fixed effects for schools and time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7678BE-BEC9-5BB2-92EE-ABC330B74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711" t="-1923" r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4D61-63A3-425C-D363-1A0DBD7C06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12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EA9E-24F9-E136-C18C-093CFDA3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E783-8C4C-6DD7-09BB-EA9BCC528FF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largest issue with this project was the binary poverty variable. </a:t>
            </a:r>
          </a:p>
          <a:p>
            <a:r>
              <a:rPr lang="en-US" dirty="0"/>
              <a:t>Concerned about information loss, shifted to a </a:t>
            </a:r>
            <a:r>
              <a:rPr lang="en-US" b="1" dirty="0"/>
              <a:t>continuous treatment variable</a:t>
            </a:r>
            <a:r>
              <a:rPr lang="en-US" dirty="0"/>
              <a:t>.</a:t>
            </a:r>
          </a:p>
          <a:p>
            <a:r>
              <a:rPr lang="en-US" dirty="0"/>
              <a:t>More valuable – measures intensity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336DC-0E5D-F69D-B7EE-B13A636A36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1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8CAE1-03E3-6743-7522-2BAC9CAE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0298-0BD9-1DA2-5B42-D3F08727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E0E465-FA20-872A-7E1D-B52D4C8B0E4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781150099"/>
              </p:ext>
            </p:extLst>
          </p:nvPr>
        </p:nvGraphicFramePr>
        <p:xfrm>
          <a:off x="1767427" y="1698578"/>
          <a:ext cx="8553450" cy="28346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851150">
                  <a:extLst>
                    <a:ext uri="{9D8B030D-6E8A-4147-A177-3AD203B41FA5}">
                      <a16:colId xmlns:a16="http://schemas.microsoft.com/office/drawing/2014/main" val="3351884649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2904785254"/>
                    </a:ext>
                  </a:extLst>
                </a:gridCol>
                <a:gridCol w="2851150">
                  <a:extLst>
                    <a:ext uri="{9D8B030D-6E8A-4147-A177-3AD203B41FA5}">
                      <a16:colId xmlns:a16="http://schemas.microsoft.com/office/drawing/2014/main" val="1224018752"/>
                    </a:ext>
                  </a:extLst>
                </a:gridCol>
              </a:tblGrid>
              <a:tr h="3983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v1 (Binary treatment)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v2 (Continuous treatment)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0838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-1.5384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-0.0450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251476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-2.7106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-0.0675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527512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531322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504199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33893"/>
                  </a:ext>
                </a:extLst>
              </a:tr>
              <a:tr h="2307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-0.1553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77438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A0E7C-5AAE-CC5A-3085-0C86718146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71005-C804-B92D-E937-F681DA4E53CC}"/>
              </a:ext>
            </a:extLst>
          </p:cNvPr>
          <p:cNvSpPr txBox="1"/>
          <p:nvPr/>
        </p:nvSpPr>
        <p:spPr>
          <a:xfrm>
            <a:off x="1664094" y="4657192"/>
            <a:ext cx="3572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v1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Simply compares high vs.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Grade 3, for example: High poverty schools saw scores drop -1.54 more than low poverty schools (accounting for time and school FE)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21D1B-FABC-EFF8-58B5-8C8B5062EB44}"/>
              </a:ext>
            </a:extLst>
          </p:cNvPr>
          <p:cNvSpPr txBox="1"/>
          <p:nvPr/>
        </p:nvSpPr>
        <p:spPr>
          <a:xfrm>
            <a:off x="6269225" y="4657192"/>
            <a:ext cx="35724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from 0 - 100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every 1 percentage point increase in poverty, a school’s mean ELA score dropped 0.045 points between 2019 and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592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9E63-052E-17E8-2D48-206F50A7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Years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27B4-F2D7-881A-B879-31C9F794D26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Currently using 2019 and 2022</a:t>
            </a:r>
          </a:p>
          <a:p>
            <a:r>
              <a:rPr lang="en-US" dirty="0"/>
              <a:t>According to the codebook for the data, years 2018 – 2022 can be compared</a:t>
            </a:r>
          </a:p>
          <a:p>
            <a:pPr lvl="1"/>
            <a:r>
              <a:rPr lang="en-US" dirty="0"/>
              <a:t>This testing range cannot be compared to years prior to 2018 or 2023</a:t>
            </a:r>
          </a:p>
          <a:p>
            <a:r>
              <a:rPr lang="en-US" dirty="0"/>
              <a:t>New York State Department of Education temporarily rescaled the exams to account for a change in test administration from 2018-2022</a:t>
            </a:r>
          </a:p>
          <a:p>
            <a:r>
              <a:rPr lang="en-US" dirty="0"/>
              <a:t>May incorporate 2018, unsure what the difference in scale is for 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03BFC-B780-AD0F-1F44-555018CCF0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4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E0FE-AECA-BC33-0083-6F9D45D8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4978C-4CD5-AAD3-1FCB-4C7CBFCF1AE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Incorporation of exogenous variables, such as demographics</a:t>
            </a:r>
          </a:p>
          <a:p>
            <a:r>
              <a:rPr lang="en-US" dirty="0"/>
              <a:t>Need to be careful, it is important that exogenous variables are not incorporated with school fixed effects, could cause bias</a:t>
            </a:r>
          </a:p>
          <a:p>
            <a:r>
              <a:rPr lang="en-US" dirty="0"/>
              <a:t>Would have to do correlation test for new demographic variables with already existing treatment, but would be added as more controls</a:t>
            </a:r>
          </a:p>
          <a:p>
            <a:endParaRPr lang="en-US" dirty="0"/>
          </a:p>
          <a:p>
            <a:r>
              <a:rPr lang="en-US" dirty="0"/>
              <a:t>Inclusion of year 2018 to verify parallel trends assumption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E42C8-B0AF-1256-2297-FC01828A82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43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AFDF-E344-E36C-6F35-A2F6AA85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705518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1569</TotalTime>
  <Words>340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Tisa Offc Serif Pro</vt:lpstr>
      <vt:lpstr>Univers Light</vt:lpstr>
      <vt:lpstr>Custom</vt:lpstr>
      <vt:lpstr>Week 9: Updates and Going Forward</vt:lpstr>
      <vt:lpstr>Current Model &amp; Review</vt:lpstr>
      <vt:lpstr>Adjustments</vt:lpstr>
      <vt:lpstr>Difference in Results</vt:lpstr>
      <vt:lpstr>Years </vt:lpstr>
      <vt:lpstr>What’s next?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Madison Jones</dc:creator>
  <cp:lastModifiedBy>Madison Jones</cp:lastModifiedBy>
  <cp:revision>1</cp:revision>
  <dcterms:created xsi:type="dcterms:W3CDTF">2026-03-26T16:37:21Z</dcterms:created>
  <dcterms:modified xsi:type="dcterms:W3CDTF">2026-03-27T18:46:31Z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