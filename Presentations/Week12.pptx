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23" r:id="rId6"/>
    <p:sldId id="324" r:id="rId7"/>
    <p:sldId id="325" r:id="rId8"/>
    <p:sldId id="326" r:id="rId9"/>
    <p:sldId id="327" r:id="rId10"/>
    <p:sldId id="32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3178A-1654-4294-9DFD-3366B171BECB}" v="7" dt="2026-04-17T14:21:58.562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5388" autoAdjust="0"/>
  </p:normalViewPr>
  <p:slideViewPr>
    <p:cSldViewPr snapToGrid="0">
      <p:cViewPr>
        <p:scale>
          <a:sx n="49" d="100"/>
          <a:sy n="49" d="100"/>
        </p:scale>
        <p:origin x="1521" y="79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Jones" userId="4347cae8-7c2b-4706-9465-46f5e461052a" providerId="ADAL" clId="{23AD2B71-142B-4412-B515-82A4DB346E58}"/>
    <pc:docChg chg="undo custSel addSld modSld">
      <pc:chgData name="Madison Jones" userId="4347cae8-7c2b-4706-9465-46f5e461052a" providerId="ADAL" clId="{23AD2B71-142B-4412-B515-82A4DB346E58}" dt="2026-04-17T19:50:30.044" v="1693" actId="20577"/>
      <pc:docMkLst>
        <pc:docMk/>
      </pc:docMkLst>
      <pc:sldChg chg="modSp mod">
        <pc:chgData name="Madison Jones" userId="4347cae8-7c2b-4706-9465-46f5e461052a" providerId="ADAL" clId="{23AD2B71-142B-4412-B515-82A4DB346E58}" dt="2026-04-17T13:45:38.272" v="160" actId="20577"/>
        <pc:sldMkLst>
          <pc:docMk/>
          <pc:sldMk cId="4127474206" sldId="325"/>
        </pc:sldMkLst>
        <pc:spChg chg="mod">
          <ac:chgData name="Madison Jones" userId="4347cae8-7c2b-4706-9465-46f5e461052a" providerId="ADAL" clId="{23AD2B71-142B-4412-B515-82A4DB346E58}" dt="2026-04-17T13:45:38.272" v="160" actId="20577"/>
          <ac:spMkLst>
            <pc:docMk/>
            <pc:sldMk cId="4127474206" sldId="325"/>
            <ac:spMk id="3" creationId="{691DBD8D-B099-23B8-D86D-F0099DBE7EBD}"/>
          </ac:spMkLst>
        </pc:spChg>
      </pc:sldChg>
      <pc:sldChg chg="addSp modSp mod">
        <pc:chgData name="Madison Jones" userId="4347cae8-7c2b-4706-9465-46f5e461052a" providerId="ADAL" clId="{23AD2B71-142B-4412-B515-82A4DB346E58}" dt="2026-04-17T14:15:01.699" v="316" actId="20577"/>
        <pc:sldMkLst>
          <pc:docMk/>
          <pc:sldMk cId="2148632088" sldId="326"/>
        </pc:sldMkLst>
        <pc:spChg chg="mod">
          <ac:chgData name="Madison Jones" userId="4347cae8-7c2b-4706-9465-46f5e461052a" providerId="ADAL" clId="{23AD2B71-142B-4412-B515-82A4DB346E58}" dt="2026-04-17T13:44:09.955" v="1" actId="20577"/>
          <ac:spMkLst>
            <pc:docMk/>
            <pc:sldMk cId="2148632088" sldId="326"/>
            <ac:spMk id="3" creationId="{891FE486-3A6C-8987-D824-1C9BE26D6CCF}"/>
          </ac:spMkLst>
        </pc:spChg>
        <pc:graphicFrameChg chg="add mod modGraphic">
          <ac:chgData name="Madison Jones" userId="4347cae8-7c2b-4706-9465-46f5e461052a" providerId="ADAL" clId="{23AD2B71-142B-4412-B515-82A4DB346E58}" dt="2026-04-17T14:15:01.699" v="316" actId="20577"/>
          <ac:graphicFrameMkLst>
            <pc:docMk/>
            <pc:sldMk cId="2148632088" sldId="326"/>
            <ac:graphicFrameMk id="5" creationId="{74FB2A34-918F-FE0E-AFA2-0BF9F8B21F55}"/>
          </ac:graphicFrameMkLst>
        </pc:graphicFrameChg>
        <pc:cxnChg chg="add mod">
          <ac:chgData name="Madison Jones" userId="4347cae8-7c2b-4706-9465-46f5e461052a" providerId="ADAL" clId="{23AD2B71-142B-4412-B515-82A4DB346E58}" dt="2026-04-17T14:11:58.428" v="202" actId="1076"/>
          <ac:cxnSpMkLst>
            <pc:docMk/>
            <pc:sldMk cId="2148632088" sldId="326"/>
            <ac:cxnSpMk id="7" creationId="{E0BE557D-3B88-0899-7E9B-496B7970E259}"/>
          </ac:cxnSpMkLst>
        </pc:cxnChg>
      </pc:sldChg>
      <pc:sldChg chg="addSp modSp new mod modNotesTx">
        <pc:chgData name="Madison Jones" userId="4347cae8-7c2b-4706-9465-46f5e461052a" providerId="ADAL" clId="{23AD2B71-142B-4412-B515-82A4DB346E58}" dt="2026-04-17T19:50:30.044" v="1693" actId="20577"/>
        <pc:sldMkLst>
          <pc:docMk/>
          <pc:sldMk cId="2305063341" sldId="327"/>
        </pc:sldMkLst>
        <pc:spChg chg="mod">
          <ac:chgData name="Madison Jones" userId="4347cae8-7c2b-4706-9465-46f5e461052a" providerId="ADAL" clId="{23AD2B71-142B-4412-B515-82A4DB346E58}" dt="2026-04-17T14:17:50.008" v="353" actId="20577"/>
          <ac:spMkLst>
            <pc:docMk/>
            <pc:sldMk cId="2305063341" sldId="327"/>
            <ac:spMk id="2" creationId="{593ECB92-082F-59B9-7E60-5C15DB2F1FAD}"/>
          </ac:spMkLst>
        </pc:spChg>
        <pc:spChg chg="mod">
          <ac:chgData name="Madison Jones" userId="4347cae8-7c2b-4706-9465-46f5e461052a" providerId="ADAL" clId="{23AD2B71-142B-4412-B515-82A4DB346E58}" dt="2026-04-17T14:28:31.451" v="993" actId="113"/>
          <ac:spMkLst>
            <pc:docMk/>
            <pc:sldMk cId="2305063341" sldId="327"/>
            <ac:spMk id="3" creationId="{B855C7FF-6BA3-E9A4-104D-D6E50C91761B}"/>
          </ac:spMkLst>
        </pc:spChg>
        <pc:graphicFrameChg chg="add mod modGraphic">
          <ac:chgData name="Madison Jones" userId="4347cae8-7c2b-4706-9465-46f5e461052a" providerId="ADAL" clId="{23AD2B71-142B-4412-B515-82A4DB346E58}" dt="2026-04-17T14:24:16.226" v="639" actId="1076"/>
          <ac:graphicFrameMkLst>
            <pc:docMk/>
            <pc:sldMk cId="2305063341" sldId="327"/>
            <ac:graphicFrameMk id="5" creationId="{A8888273-616C-7EFD-EF7F-95A6EEDE1794}"/>
          </ac:graphicFrameMkLst>
        </pc:graphicFrameChg>
      </pc:sldChg>
      <pc:sldChg chg="modSp new mod">
        <pc:chgData name="Madison Jones" userId="4347cae8-7c2b-4706-9465-46f5e461052a" providerId="ADAL" clId="{23AD2B71-142B-4412-B515-82A4DB346E58}" dt="2026-04-17T14:32:00.458" v="1669" actId="20577"/>
        <pc:sldMkLst>
          <pc:docMk/>
          <pc:sldMk cId="3988303624" sldId="328"/>
        </pc:sldMkLst>
        <pc:spChg chg="mod">
          <ac:chgData name="Madison Jones" userId="4347cae8-7c2b-4706-9465-46f5e461052a" providerId="ADAL" clId="{23AD2B71-142B-4412-B515-82A4DB346E58}" dt="2026-04-17T14:28:49.918" v="1015" actId="20577"/>
          <ac:spMkLst>
            <pc:docMk/>
            <pc:sldMk cId="3988303624" sldId="328"/>
            <ac:spMk id="2" creationId="{EBA8BA67-E113-AF33-AFF6-47C54DF7F367}"/>
          </ac:spMkLst>
        </pc:spChg>
        <pc:spChg chg="mod">
          <ac:chgData name="Madison Jones" userId="4347cae8-7c2b-4706-9465-46f5e461052a" providerId="ADAL" clId="{23AD2B71-142B-4412-B515-82A4DB346E58}" dt="2026-04-17T14:32:00.458" v="1669" actId="20577"/>
          <ac:spMkLst>
            <pc:docMk/>
            <pc:sldMk cId="3988303624" sldId="328"/>
            <ac:spMk id="3" creationId="{516D0FDD-1C54-DFA1-67DD-D89D62CE48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Something about 6-8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93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Week 12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49E74-129D-CCA8-E566-1A2DAD9F098E}"/>
              </a:ext>
            </a:extLst>
          </p:cNvPr>
          <p:cNvSpPr txBox="1"/>
          <p:nvPr/>
        </p:nvSpPr>
        <p:spPr>
          <a:xfrm>
            <a:off x="1317615" y="5844323"/>
            <a:ext cx="3680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Madison Jones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Master’s Project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5452-B205-FB0F-C97C-25403373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E130C-3748-DED8-B03B-A56C7DF9AA7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Incorporation of 2018 into model</a:t>
            </a:r>
          </a:p>
          <a:p>
            <a:r>
              <a:rPr lang="en-US" dirty="0"/>
              <a:t>Transitioned to event study model, analyzing pre- and post- trends</a:t>
            </a:r>
          </a:p>
          <a:p>
            <a:r>
              <a:rPr lang="en-US" dirty="0" err="1"/>
              <a:t>HonestDiD</a:t>
            </a:r>
            <a:r>
              <a:rPr lang="en-US" dirty="0"/>
              <a:t> analysis in R for model robustness checks for parallel trends assumption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C2F87-98F6-7210-D4A9-2D1F937D1B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8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AA71-9754-A5DC-46DE-16797BB7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HonestDiD</a:t>
            </a:r>
            <a:r>
              <a:rPr lang="en-US" dirty="0"/>
              <a:t> 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0E14C-6AFA-8170-00E2-6AD211B1431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Sensitivity check for data that may violate parallel trends assumption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https://github.com/asheshrambachan/HonestDiD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60D3C-3879-486C-9EF7-BF7F093107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5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C11B-4614-1383-5030-7770963B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DBD8D-B099-23B8-D86D-F0099DBE7EB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Tried using 2019 as baseline</a:t>
            </a:r>
          </a:p>
          <a:p>
            <a:r>
              <a:rPr lang="en-US" dirty="0"/>
              <a:t>Using a consistent baseline allows me to understand pre-trend effects. Essentially, </a:t>
            </a:r>
            <a:r>
              <a:rPr lang="en-US" b="1" dirty="0"/>
              <a:t>how are test scores in an already poor school in the pre-period affected in the post-period</a:t>
            </a:r>
            <a:r>
              <a:rPr lang="en-US" dirty="0"/>
              <a:t>?</a:t>
            </a:r>
          </a:p>
          <a:p>
            <a:r>
              <a:rPr lang="en-US" dirty="0"/>
              <a:t>COVID did cause an increase in the poverty rate; this allows for easier analysis on test scores </a:t>
            </a:r>
          </a:p>
          <a:p>
            <a:endParaRPr lang="en-US" dirty="0"/>
          </a:p>
          <a:p>
            <a:r>
              <a:rPr lang="en-US" dirty="0"/>
              <a:t>Splitting analysis between elementary aged (3-5) and middle school aged (6-8) for fair comparison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1CB10-9722-E750-ECB0-C3B0B5773D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7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6282-286C-83FB-2E45-3AE38C3F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FE486-3A6C-8987-D824-1C9BE26D6CC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Nevertheless, I got similar results to using 2018 and 2022 poverty rates!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047E9-1B35-472E-53B4-6058C92161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FB2A34-918F-FE0E-AFA2-0BF9F8B21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248798"/>
              </p:ext>
            </p:extLst>
          </p:nvPr>
        </p:nvGraphicFramePr>
        <p:xfrm>
          <a:off x="1662285" y="2963281"/>
          <a:ext cx="8128000" cy="28651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405465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810756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504142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706394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0757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 Coefficient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 (post)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HonestDiD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9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246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042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887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75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782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94537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BE557D-3B88-0899-7E9B-496B7970E259}"/>
              </a:ext>
            </a:extLst>
          </p:cNvPr>
          <p:cNvCxnSpPr/>
          <p:nvPr/>
        </p:nvCxnSpPr>
        <p:spPr>
          <a:xfrm>
            <a:off x="1595940" y="4717698"/>
            <a:ext cx="81943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632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CB92-082F-59B9-7E60-5C15DB2F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5C7FF-6BA3-E9A4-104D-D6E50C9176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4319416" cy="4119463"/>
          </a:xfrm>
        </p:spPr>
        <p:txBody>
          <a:bodyPr>
            <a:normAutofit fontScale="92500" lnSpcReduction="20000"/>
          </a:bodyPr>
          <a:lstStyle/>
          <a:p>
            <a:r>
              <a:rPr lang="en-US" sz="1900" b="1" dirty="0"/>
              <a:t>Pre-Results:</a:t>
            </a:r>
          </a:p>
          <a:p>
            <a:pPr lvl="1"/>
            <a:r>
              <a:rPr lang="en-US" sz="1800" dirty="0"/>
              <a:t>Pre-results are a pre-trend check.</a:t>
            </a:r>
            <a:endParaRPr lang="en-US" dirty="0"/>
          </a:p>
          <a:p>
            <a:r>
              <a:rPr lang="en-US" sz="1900" b="1" dirty="0"/>
              <a:t>Post-Results:</a:t>
            </a:r>
          </a:p>
          <a:p>
            <a:pPr lvl="1"/>
            <a:r>
              <a:rPr lang="en-US" sz="1700" dirty="0"/>
              <a:t>Elementary aged children in grades 3 and 4 in impoverished schools experienced learning-loss in the post-COVID period</a:t>
            </a:r>
          </a:p>
          <a:p>
            <a:pPr lvl="1"/>
            <a:r>
              <a:rPr lang="en-US" sz="1700" b="1" dirty="0"/>
              <a:t>Grade 3</a:t>
            </a:r>
            <a:r>
              <a:rPr lang="en-US" sz="1700" dirty="0"/>
              <a:t>: For every 1% increase in the poverty rate, an impoverished school will have scored 0.0451 points lower compared to 2019.</a:t>
            </a:r>
          </a:p>
          <a:p>
            <a:pPr lvl="1"/>
            <a:r>
              <a:rPr lang="en-US" sz="1700" b="1" dirty="0"/>
              <a:t>Grade 4</a:t>
            </a:r>
            <a:r>
              <a:rPr lang="en-US" sz="1700" dirty="0"/>
              <a:t>: The same applies for grade 4, with fourth grade students in a school will have scored 0.029 points lower relative to 2019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57F56-1366-3CF8-CB4D-E30795E7A6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888273-616C-7EFD-EF7F-95A6EEDE1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901048"/>
              </p:ext>
            </p:extLst>
          </p:nvPr>
        </p:nvGraphicFramePr>
        <p:xfrm>
          <a:off x="6044152" y="2918661"/>
          <a:ext cx="5862405" cy="124979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72481">
                  <a:extLst>
                    <a:ext uri="{9D8B030D-6E8A-4147-A177-3AD203B41FA5}">
                      <a16:colId xmlns:a16="http://schemas.microsoft.com/office/drawing/2014/main" val="2329260702"/>
                    </a:ext>
                  </a:extLst>
                </a:gridCol>
                <a:gridCol w="1172481">
                  <a:extLst>
                    <a:ext uri="{9D8B030D-6E8A-4147-A177-3AD203B41FA5}">
                      <a16:colId xmlns:a16="http://schemas.microsoft.com/office/drawing/2014/main" val="4006889828"/>
                    </a:ext>
                  </a:extLst>
                </a:gridCol>
                <a:gridCol w="1172481">
                  <a:extLst>
                    <a:ext uri="{9D8B030D-6E8A-4147-A177-3AD203B41FA5}">
                      <a16:colId xmlns:a16="http://schemas.microsoft.com/office/drawing/2014/main" val="642433971"/>
                    </a:ext>
                  </a:extLst>
                </a:gridCol>
                <a:gridCol w="1172481">
                  <a:extLst>
                    <a:ext uri="{9D8B030D-6E8A-4147-A177-3AD203B41FA5}">
                      <a16:colId xmlns:a16="http://schemas.microsoft.com/office/drawing/2014/main" val="3995691984"/>
                    </a:ext>
                  </a:extLst>
                </a:gridCol>
                <a:gridCol w="1172481">
                  <a:extLst>
                    <a:ext uri="{9D8B030D-6E8A-4147-A177-3AD203B41FA5}">
                      <a16:colId xmlns:a16="http://schemas.microsoft.com/office/drawing/2014/main" val="1261315994"/>
                    </a:ext>
                  </a:extLst>
                </a:gridCol>
              </a:tblGrid>
              <a:tr h="609712">
                <a:tc>
                  <a:txBody>
                    <a:bodyPr/>
                    <a:lstStyle/>
                    <a:p>
                      <a:r>
                        <a:rPr lang="en-US" sz="1500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Pre Coefficient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Post 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P-value (post)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HonestDiD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476342"/>
                  </a:ext>
                </a:extLst>
              </a:tr>
              <a:tr h="297573">
                <a:tc>
                  <a:txBody>
                    <a:bodyPr/>
                    <a:lstStyle/>
                    <a:p>
                      <a:r>
                        <a:rPr lang="en-US" sz="15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-0.0227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-0.0451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467701"/>
                  </a:ext>
                </a:extLst>
              </a:tr>
              <a:tr h="297573">
                <a:tc>
                  <a:txBody>
                    <a:bodyPr/>
                    <a:lstStyle/>
                    <a:p>
                      <a:r>
                        <a:rPr lang="en-US" sz="15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-0.0290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-0.0686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611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06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BA67-E113-AF33-AFF6-47C54DF7F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0FDD-1C54-DFA1-67DD-D89D62CE484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initial hypothesis proposed that impoverished schools will have seen a decrease in test scores in the post-COVID period, specifically younger children.</a:t>
            </a:r>
          </a:p>
          <a:p>
            <a:r>
              <a:rPr lang="en-US" dirty="0"/>
              <a:t>While older grades do not yield significant results, younger grades align with the initial premise of the project.</a:t>
            </a:r>
          </a:p>
          <a:p>
            <a:r>
              <a:rPr lang="en-US" dirty="0"/>
              <a:t>Older grades will still be reported, but do not have valid models. This could align with early learning development being disrupted for younger grades.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EA72A-4F90-EA3D-CFDF-3FF859DB19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036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1022</TotalTime>
  <Words>381</Words>
  <Application>Microsoft Office PowerPoint</Application>
  <PresentationFormat>Widescreen</PresentationFormat>
  <Paragraphs>96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Tisa Offc Serif Pro</vt:lpstr>
      <vt:lpstr>Univers Light</vt:lpstr>
      <vt:lpstr>Custom</vt:lpstr>
      <vt:lpstr>Week 12 </vt:lpstr>
      <vt:lpstr>Recap</vt:lpstr>
      <vt:lpstr>HonestDiD Analysis Overview</vt:lpstr>
      <vt:lpstr>Model Changes</vt:lpstr>
      <vt:lpstr>Results</vt:lpstr>
      <vt:lpstr>Results </vt:lpstr>
      <vt:lpstr>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2026-04-17T02:48:36Z</dcterms:created>
  <dcterms:modified xsi:type="dcterms:W3CDTF">2026-04-17T19:50:37Z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