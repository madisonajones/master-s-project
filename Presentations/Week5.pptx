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22" r:id="rId5"/>
    <p:sldId id="324" r:id="rId6"/>
    <p:sldId id="325" r:id="rId7"/>
    <p:sldId id="3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5388" autoAdjust="0"/>
  </p:normalViewPr>
  <p:slideViewPr>
    <p:cSldViewPr snapToGrid="0">
      <p:cViewPr>
        <p:scale>
          <a:sx n="84" d="100"/>
          <a:sy n="84" d="100"/>
        </p:scale>
        <p:origin x="180" y="4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8428412" cy="5253089"/>
          </a:xfrm>
        </p:spPr>
        <p:txBody>
          <a:bodyPr>
            <a:normAutofit/>
          </a:bodyPr>
          <a:lstStyle/>
          <a:p>
            <a:r>
              <a:rPr lang="en-US" sz="4800" dirty="0"/>
              <a:t>Week 5: Framework, Goals, and Risks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88CBB-7BAB-55FE-E2E3-7B4B35DDDFEE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18E6-6680-FF09-4D41-09D69759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D7A46-DE5C-0F0A-9388-F0049F1BF43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Two-way fixed effects difference-in-difference</a:t>
            </a:r>
          </a:p>
          <a:p>
            <a:pPr lvl="1"/>
            <a:r>
              <a:rPr lang="en-US" b="1" dirty="0"/>
              <a:t>Treatment</a:t>
            </a:r>
            <a:r>
              <a:rPr lang="en-US" dirty="0"/>
              <a:t>: Poverty % of school or district, assigned using 1 or 0 based on average poverty % of NYC</a:t>
            </a:r>
          </a:p>
          <a:p>
            <a:pPr lvl="1"/>
            <a:r>
              <a:rPr lang="en-US" dirty="0"/>
              <a:t>Controlling for time (for all models)</a:t>
            </a:r>
          </a:p>
          <a:p>
            <a:pPr lvl="1"/>
            <a:r>
              <a:rPr lang="en-US" dirty="0"/>
              <a:t>Controlling for school</a:t>
            </a:r>
          </a:p>
          <a:p>
            <a:pPr lvl="1"/>
            <a:r>
              <a:rPr lang="en-US" dirty="0"/>
              <a:t>Controlling for district</a:t>
            </a:r>
          </a:p>
          <a:p>
            <a:pPr lvl="1"/>
            <a:r>
              <a:rPr lang="en-US" dirty="0"/>
              <a:t>Models incorporating different grades</a:t>
            </a:r>
          </a:p>
          <a:p>
            <a:r>
              <a:rPr lang="en-US" b="1" dirty="0"/>
              <a:t>Key variables of interest:</a:t>
            </a:r>
          </a:p>
          <a:p>
            <a:pPr lvl="1"/>
            <a:r>
              <a:rPr lang="en-US" b="1" dirty="0"/>
              <a:t>Mean score</a:t>
            </a:r>
          </a:p>
          <a:p>
            <a:pPr lvl="1"/>
            <a:r>
              <a:rPr lang="en-US" dirty="0"/>
              <a:t>Levels 1-4%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7E862-D015-DF79-5E0E-FDDD6D37DD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6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3425-16DE-1B49-D0CB-B4E3963B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DC08A-EDE8-CD7A-CD6F-AB000CB7A8D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Model for school constants, model for district constants, models for young and older grades</a:t>
            </a:r>
          </a:p>
          <a:p>
            <a:r>
              <a:rPr lang="en-US" b="1" dirty="0"/>
              <a:t>Inputs:</a:t>
            </a:r>
          </a:p>
          <a:p>
            <a:pPr lvl="1"/>
            <a:r>
              <a:rPr lang="en-US" i="1" dirty="0"/>
              <a:t>Time fixed effect for all models</a:t>
            </a:r>
          </a:p>
          <a:p>
            <a:pPr lvl="1"/>
            <a:r>
              <a:rPr lang="en-US" dirty="0"/>
              <a:t>School fixed effect</a:t>
            </a:r>
          </a:p>
          <a:p>
            <a:pPr lvl="1"/>
            <a:r>
              <a:rPr lang="en-US" dirty="0"/>
              <a:t>District fixed effect</a:t>
            </a:r>
          </a:p>
          <a:p>
            <a:pPr lvl="1"/>
            <a:r>
              <a:rPr lang="en-US" dirty="0"/>
              <a:t>Grade fixed effect</a:t>
            </a:r>
          </a:p>
          <a:p>
            <a:pPr lvl="1"/>
            <a:r>
              <a:rPr lang="en-US" b="1" dirty="0"/>
              <a:t>Weight</a:t>
            </a:r>
            <a:r>
              <a:rPr lang="en-US" dirty="0"/>
              <a:t>: school size, automatically characterized in </a:t>
            </a:r>
            <a:r>
              <a:rPr lang="en-US" dirty="0" err="1"/>
              <a:t>PanelOLS</a:t>
            </a:r>
            <a:r>
              <a:rPr lang="en-US" dirty="0"/>
              <a:t>()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8AC79-4EA0-CFA6-3EEB-F49670B7A4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07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666D-B394-5D8D-9B81-E733F2D3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42EA-FA25-66DA-11AC-F1D7DCE5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E83EE-1088-6910-8602-886EA85743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FD6A8F2-F6B7-78AB-6489-EF92C1E21E3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87135014"/>
              </p:ext>
            </p:extLst>
          </p:nvPr>
        </p:nvGraphicFramePr>
        <p:xfrm>
          <a:off x="1449387" y="2108200"/>
          <a:ext cx="10261748" cy="41198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400501">
                  <a:extLst>
                    <a:ext uri="{9D8B030D-6E8A-4147-A177-3AD203B41FA5}">
                      <a16:colId xmlns:a16="http://schemas.microsoft.com/office/drawing/2014/main" val="1579622915"/>
                    </a:ext>
                  </a:extLst>
                </a:gridCol>
                <a:gridCol w="1840159">
                  <a:extLst>
                    <a:ext uri="{9D8B030D-6E8A-4147-A177-3AD203B41FA5}">
                      <a16:colId xmlns:a16="http://schemas.microsoft.com/office/drawing/2014/main" val="4111551448"/>
                    </a:ext>
                  </a:extLst>
                </a:gridCol>
                <a:gridCol w="4021088">
                  <a:extLst>
                    <a:ext uri="{9D8B030D-6E8A-4147-A177-3AD203B41FA5}">
                      <a16:colId xmlns:a16="http://schemas.microsoft.com/office/drawing/2014/main" val="1460115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8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Parallel trends assumption violated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Adjust controls, adjust treatment classification (</a:t>
                      </a:r>
                      <a:r>
                        <a:rPr lang="en-US" b="1" dirty="0"/>
                        <a:t>based on EDA, this does not seem to be a concern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85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Schools containing different grade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like schools, focus on all grades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2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Missing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Underwhelming data has been suppressed, enough schools with available data to continue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27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Years too far apart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impact results as there could be recovery in post-COVID.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Poverty level categorized incorrectly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Would impact results negatively, may need to adjust classification method.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180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5219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16</TotalTime>
  <Words>210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Tisa Offc Serif Pro</vt:lpstr>
      <vt:lpstr>Univers Light</vt:lpstr>
      <vt:lpstr>Custom</vt:lpstr>
      <vt:lpstr>Week 5: Framework, Goals, and Risks</vt:lpstr>
      <vt:lpstr>Framework</vt:lpstr>
      <vt:lpstr>Goals</vt:lpstr>
      <vt:lpstr>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2026-02-20T00:04:38Z</dcterms:created>
  <dcterms:modified xsi:type="dcterms:W3CDTF">2026-02-20T00:21:36Z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