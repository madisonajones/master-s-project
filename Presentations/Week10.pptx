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1" r:id="rId6"/>
    <p:sldId id="326" r:id="rId7"/>
    <p:sldId id="323" r:id="rId8"/>
    <p:sldId id="325" r:id="rId9"/>
    <p:sldId id="327" r:id="rId10"/>
    <p:sldId id="328" r:id="rId11"/>
    <p:sldId id="329" r:id="rId12"/>
    <p:sldId id="330" r:id="rId13"/>
    <p:sldId id="331" r:id="rId14"/>
    <p:sldId id="332" r:id="rId15"/>
    <p:sldId id="33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4F0"/>
    <a:srgbClr val="F3EDEA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392B9-AF06-4DDA-A401-7E9A9D004F26}" v="5" dt="2026-04-03T17:46:20.554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>
      <p:cViewPr varScale="1">
        <p:scale>
          <a:sx n="84" d="100"/>
          <a:sy n="84" d="100"/>
        </p:scale>
        <p:origin x="351" y="4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undo custSel addSld delSld modSld">
      <pc:chgData name="Madison Jones" userId="4347cae8-7c2b-4706-9465-46f5e461052a" providerId="ADAL" clId="{23AD2B71-142B-4412-B515-82A4DB346E58}" dt="2026-04-03T18:33:45.009" v="2073" actId="20577"/>
      <pc:docMkLst>
        <pc:docMk/>
      </pc:docMkLst>
      <pc:sldChg chg="new del">
        <pc:chgData name="Madison Jones" userId="4347cae8-7c2b-4706-9465-46f5e461052a" providerId="ADAL" clId="{23AD2B71-142B-4412-B515-82A4DB346E58}" dt="2026-04-03T17:35:15.139" v="1" actId="2696"/>
        <pc:sldMkLst>
          <pc:docMk/>
          <pc:sldMk cId="460019891" sldId="329"/>
        </pc:sldMkLst>
      </pc:sldChg>
      <pc:sldChg chg="addSp delSp modSp new mod">
        <pc:chgData name="Madison Jones" userId="4347cae8-7c2b-4706-9465-46f5e461052a" providerId="ADAL" clId="{23AD2B71-142B-4412-B515-82A4DB346E58}" dt="2026-04-03T17:40:14.084" v="404" actId="1076"/>
        <pc:sldMkLst>
          <pc:docMk/>
          <pc:sldMk cId="1380514721" sldId="329"/>
        </pc:sldMkLst>
        <pc:spChg chg="mod">
          <ac:chgData name="Madison Jones" userId="4347cae8-7c2b-4706-9465-46f5e461052a" providerId="ADAL" clId="{23AD2B71-142B-4412-B515-82A4DB346E58}" dt="2026-04-03T17:39:31.518" v="273" actId="20577"/>
          <ac:spMkLst>
            <pc:docMk/>
            <pc:sldMk cId="1380514721" sldId="329"/>
            <ac:spMk id="2" creationId="{49765411-2D74-D2CE-6D25-30261723CDAE}"/>
          </ac:spMkLst>
        </pc:spChg>
        <pc:spChg chg="del">
          <ac:chgData name="Madison Jones" userId="4347cae8-7c2b-4706-9465-46f5e461052a" providerId="ADAL" clId="{23AD2B71-142B-4412-B515-82A4DB346E58}" dt="2026-04-03T17:35:45.718" v="3" actId="3680"/>
          <ac:spMkLst>
            <pc:docMk/>
            <pc:sldMk cId="1380514721" sldId="329"/>
            <ac:spMk id="3" creationId="{6D6BB9B5-216E-594F-6819-AC70625D382F}"/>
          </ac:spMkLst>
        </pc:spChg>
        <pc:spChg chg="add mod">
          <ac:chgData name="Madison Jones" userId="4347cae8-7c2b-4706-9465-46f5e461052a" providerId="ADAL" clId="{23AD2B71-142B-4412-B515-82A4DB346E58}" dt="2026-04-03T17:40:14.084" v="404" actId="1076"/>
          <ac:spMkLst>
            <pc:docMk/>
            <pc:sldMk cId="1380514721" sldId="329"/>
            <ac:spMk id="8" creationId="{B72E5EF7-ACFA-DF51-B7CB-B8219D5BFE88}"/>
          </ac:spMkLst>
        </pc:spChg>
        <pc:graphicFrameChg chg="add mod ord modGraphic">
          <ac:chgData name="Madison Jones" userId="4347cae8-7c2b-4706-9465-46f5e461052a" providerId="ADAL" clId="{23AD2B71-142B-4412-B515-82A4DB346E58}" dt="2026-04-03T17:39:18.652" v="194" actId="1076"/>
          <ac:graphicFrameMkLst>
            <pc:docMk/>
            <pc:sldMk cId="1380514721" sldId="329"/>
            <ac:graphicFrameMk id="5" creationId="{972B03C9-C211-9879-1E04-7EED4EC2AD1C}"/>
          </ac:graphicFrameMkLst>
        </pc:graphicFrameChg>
        <pc:picChg chg="add del mod">
          <ac:chgData name="Madison Jones" userId="4347cae8-7c2b-4706-9465-46f5e461052a" providerId="ADAL" clId="{23AD2B71-142B-4412-B515-82A4DB346E58}" dt="2026-04-03T17:38:40.278" v="174" actId="21"/>
          <ac:picMkLst>
            <pc:docMk/>
            <pc:sldMk cId="1380514721" sldId="329"/>
            <ac:picMk id="7" creationId="{B67DF8C4-B522-9530-FF20-7BC1C5103A6C}"/>
          </ac:picMkLst>
        </pc:picChg>
      </pc:sldChg>
      <pc:sldChg chg="delSp modSp new mod">
        <pc:chgData name="Madison Jones" userId="4347cae8-7c2b-4706-9465-46f5e461052a" providerId="ADAL" clId="{23AD2B71-142B-4412-B515-82A4DB346E58}" dt="2026-04-03T17:40:31.613" v="420" actId="21"/>
        <pc:sldMkLst>
          <pc:docMk/>
          <pc:sldMk cId="3909245875" sldId="330"/>
        </pc:sldMkLst>
        <pc:spChg chg="mod">
          <ac:chgData name="Madison Jones" userId="4347cae8-7c2b-4706-9465-46f5e461052a" providerId="ADAL" clId="{23AD2B71-142B-4412-B515-82A4DB346E58}" dt="2026-04-03T17:40:28.412" v="419" actId="20577"/>
          <ac:spMkLst>
            <pc:docMk/>
            <pc:sldMk cId="3909245875" sldId="330"/>
            <ac:spMk id="2" creationId="{C2C8F203-1FF9-3873-6141-490F09BDDC4D}"/>
          </ac:spMkLst>
        </pc:spChg>
        <pc:spChg chg="del">
          <ac:chgData name="Madison Jones" userId="4347cae8-7c2b-4706-9465-46f5e461052a" providerId="ADAL" clId="{23AD2B71-142B-4412-B515-82A4DB346E58}" dt="2026-04-03T17:40:31.613" v="420" actId="21"/>
          <ac:spMkLst>
            <pc:docMk/>
            <pc:sldMk cId="3909245875" sldId="330"/>
            <ac:spMk id="3" creationId="{1BB72AF5-6B5F-4E9D-3BCE-76A4CED5DD1E}"/>
          </ac:spMkLst>
        </pc:spChg>
      </pc:sldChg>
      <pc:sldChg chg="addSp delSp modSp new mod">
        <pc:chgData name="Madison Jones" userId="4347cae8-7c2b-4706-9465-46f5e461052a" providerId="ADAL" clId="{23AD2B71-142B-4412-B515-82A4DB346E58}" dt="2026-04-03T17:45:09.920" v="1032" actId="114"/>
        <pc:sldMkLst>
          <pc:docMk/>
          <pc:sldMk cId="1003211906" sldId="331"/>
        </pc:sldMkLst>
        <pc:spChg chg="mod">
          <ac:chgData name="Madison Jones" userId="4347cae8-7c2b-4706-9465-46f5e461052a" providerId="ADAL" clId="{23AD2B71-142B-4412-B515-82A4DB346E58}" dt="2026-04-03T17:40:44.440" v="436" actId="20577"/>
          <ac:spMkLst>
            <pc:docMk/>
            <pc:sldMk cId="1003211906" sldId="331"/>
            <ac:spMk id="2" creationId="{0CBB51E1-3C4E-576F-42C9-5673D4B884D5}"/>
          </ac:spMkLst>
        </pc:spChg>
        <pc:spChg chg="mod">
          <ac:chgData name="Madison Jones" userId="4347cae8-7c2b-4706-9465-46f5e461052a" providerId="ADAL" clId="{23AD2B71-142B-4412-B515-82A4DB346E58}" dt="2026-04-03T17:45:09.920" v="1032" actId="114"/>
          <ac:spMkLst>
            <pc:docMk/>
            <pc:sldMk cId="1003211906" sldId="331"/>
            <ac:spMk id="3" creationId="{53F2094C-BA99-9BF5-3B23-109E2E412714}"/>
          </ac:spMkLst>
        </pc:spChg>
        <pc:spChg chg="del">
          <ac:chgData name="Madison Jones" userId="4347cae8-7c2b-4706-9465-46f5e461052a" providerId="ADAL" clId="{23AD2B71-142B-4412-B515-82A4DB346E58}" dt="2026-04-03T17:40:48.771" v="437" actId="21"/>
          <ac:spMkLst>
            <pc:docMk/>
            <pc:sldMk cId="1003211906" sldId="331"/>
            <ac:spMk id="4" creationId="{1FB318A3-5EC2-F119-E598-77E91A223418}"/>
          </ac:spMkLst>
        </pc:spChg>
        <pc:spChg chg="add mod">
          <ac:chgData name="Madison Jones" userId="4347cae8-7c2b-4706-9465-46f5e461052a" providerId="ADAL" clId="{23AD2B71-142B-4412-B515-82A4DB346E58}" dt="2026-04-03T17:42:19.956" v="628" actId="20577"/>
          <ac:spMkLst>
            <pc:docMk/>
            <pc:sldMk cId="1003211906" sldId="331"/>
            <ac:spMk id="6" creationId="{34920E8C-AF79-48CD-F720-41C1C3AFA2E5}"/>
          </ac:spMkLst>
        </pc:spChg>
      </pc:sldChg>
      <pc:sldChg chg="delSp modSp new mod">
        <pc:chgData name="Madison Jones" userId="4347cae8-7c2b-4706-9465-46f5e461052a" providerId="ADAL" clId="{23AD2B71-142B-4412-B515-82A4DB346E58}" dt="2026-04-03T17:52:57.430" v="1615" actId="27636"/>
        <pc:sldMkLst>
          <pc:docMk/>
          <pc:sldMk cId="3773384839" sldId="332"/>
        </pc:sldMkLst>
        <pc:spChg chg="mod">
          <ac:chgData name="Madison Jones" userId="4347cae8-7c2b-4706-9465-46f5e461052a" providerId="ADAL" clId="{23AD2B71-142B-4412-B515-82A4DB346E58}" dt="2026-04-03T17:44:55.571" v="1029" actId="20577"/>
          <ac:spMkLst>
            <pc:docMk/>
            <pc:sldMk cId="3773384839" sldId="332"/>
            <ac:spMk id="2" creationId="{DB60BA38-A8B9-0ECF-EA18-535E8E63E0B0}"/>
          </ac:spMkLst>
        </pc:spChg>
        <pc:spChg chg="mod">
          <ac:chgData name="Madison Jones" userId="4347cae8-7c2b-4706-9465-46f5e461052a" providerId="ADAL" clId="{23AD2B71-142B-4412-B515-82A4DB346E58}" dt="2026-04-03T17:52:57.430" v="1615" actId="27636"/>
          <ac:spMkLst>
            <pc:docMk/>
            <pc:sldMk cId="3773384839" sldId="332"/>
            <ac:spMk id="3" creationId="{3E01FF0F-8058-2387-6C67-2F43795DFC95}"/>
          </ac:spMkLst>
        </pc:spChg>
        <pc:spChg chg="del">
          <ac:chgData name="Madison Jones" userId="4347cae8-7c2b-4706-9465-46f5e461052a" providerId="ADAL" clId="{23AD2B71-142B-4412-B515-82A4DB346E58}" dt="2026-04-03T17:44:59.684" v="1030" actId="21"/>
          <ac:spMkLst>
            <pc:docMk/>
            <pc:sldMk cId="3773384839" sldId="332"/>
            <ac:spMk id="4" creationId="{BA3B25A3-5DFE-6C28-C6C0-3921DC4634C9}"/>
          </ac:spMkLst>
        </pc:spChg>
      </pc:sldChg>
      <pc:sldChg chg="delSp modSp new mod">
        <pc:chgData name="Madison Jones" userId="4347cae8-7c2b-4706-9465-46f5e461052a" providerId="ADAL" clId="{23AD2B71-142B-4412-B515-82A4DB346E58}" dt="2026-04-03T18:33:45.009" v="2073" actId="20577"/>
        <pc:sldMkLst>
          <pc:docMk/>
          <pc:sldMk cId="1016382800" sldId="333"/>
        </pc:sldMkLst>
        <pc:spChg chg="mod">
          <ac:chgData name="Madison Jones" userId="4347cae8-7c2b-4706-9465-46f5e461052a" providerId="ADAL" clId="{23AD2B71-142B-4412-B515-82A4DB346E58}" dt="2026-04-03T17:53:30.627" v="1652" actId="20577"/>
          <ac:spMkLst>
            <pc:docMk/>
            <pc:sldMk cId="1016382800" sldId="333"/>
            <ac:spMk id="2" creationId="{62F49554-AB91-2E36-C331-F052BCD91223}"/>
          </ac:spMkLst>
        </pc:spChg>
        <pc:spChg chg="del">
          <ac:chgData name="Madison Jones" userId="4347cae8-7c2b-4706-9465-46f5e461052a" providerId="ADAL" clId="{23AD2B71-142B-4412-B515-82A4DB346E58}" dt="2026-04-03T17:53:34.697" v="1653" actId="21"/>
          <ac:spMkLst>
            <pc:docMk/>
            <pc:sldMk cId="1016382800" sldId="333"/>
            <ac:spMk id="3" creationId="{F8FDA129-FC31-767F-A865-F2B6FEAC62CC}"/>
          </ac:spMkLst>
        </pc:spChg>
        <pc:spChg chg="mod">
          <ac:chgData name="Madison Jones" userId="4347cae8-7c2b-4706-9465-46f5e461052a" providerId="ADAL" clId="{23AD2B71-142B-4412-B515-82A4DB346E58}" dt="2026-04-03T18:33:45.009" v="2073" actId="20577"/>
          <ac:spMkLst>
            <pc:docMk/>
            <pc:sldMk cId="1016382800" sldId="333"/>
            <ac:spMk id="4" creationId="{20F73C21-67D6-B613-DA0E-92033275294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4DC480-BED0-4065-AE48-A1A907659E54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DB6068C-68D1-449A-A2B5-824CE9CB102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Data Scaling </a:t>
          </a:r>
        </a:p>
      </dgm:t>
    </dgm:pt>
    <dgm:pt modelId="{5C7BF5A1-89D3-4B85-9FF2-E34E2581D705}" type="parTrans" cxnId="{F02BE4FB-CCFA-4DB3-A009-785634F78158}">
      <dgm:prSet/>
      <dgm:spPr/>
      <dgm:t>
        <a:bodyPr/>
        <a:lstStyle/>
        <a:p>
          <a:endParaRPr lang="en-US"/>
        </a:p>
      </dgm:t>
    </dgm:pt>
    <dgm:pt modelId="{00EDFA85-8791-4809-A1A4-BA946D38D35E}" type="sibTrans" cxnId="{F02BE4FB-CCFA-4DB3-A009-785634F78158}">
      <dgm:prSet/>
      <dgm:spPr/>
      <dgm:t>
        <a:bodyPr/>
        <a:lstStyle/>
        <a:p>
          <a:endParaRPr lang="en-US"/>
        </a:p>
      </dgm:t>
    </dgm:pt>
    <dgm:pt modelId="{09C68E86-A1B1-40F7-B1A8-1639648920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Parallel Trends Assumption</a:t>
          </a:r>
        </a:p>
      </dgm:t>
    </dgm:pt>
    <dgm:pt modelId="{0184C944-B02F-4217-8752-FFC01719032D}" type="parTrans" cxnId="{DC7D5A6C-9049-46C9-9F3D-25FF01A197C1}">
      <dgm:prSet/>
      <dgm:spPr/>
      <dgm:t>
        <a:bodyPr/>
        <a:lstStyle/>
        <a:p>
          <a:endParaRPr lang="en-US"/>
        </a:p>
      </dgm:t>
    </dgm:pt>
    <dgm:pt modelId="{4B53032C-630C-4436-9CEA-281E2B65A69A}" type="sibTrans" cxnId="{DC7D5A6C-9049-46C9-9F3D-25FF01A197C1}">
      <dgm:prSet/>
      <dgm:spPr/>
      <dgm:t>
        <a:bodyPr/>
        <a:lstStyle/>
        <a:p>
          <a:endParaRPr lang="en-US"/>
        </a:p>
      </dgm:t>
    </dgm:pt>
    <dgm:pt modelId="{9D73CAA9-61BE-4F52-9B4A-799F224EC7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Next Steps</a:t>
          </a:r>
        </a:p>
      </dgm:t>
    </dgm:pt>
    <dgm:pt modelId="{AD7B9B77-58DA-4B53-BF0D-0386B1D7D471}" type="parTrans" cxnId="{0CA63E23-DEAF-460A-A14C-E23FBF4D3806}">
      <dgm:prSet/>
      <dgm:spPr/>
      <dgm:t>
        <a:bodyPr/>
        <a:lstStyle/>
        <a:p>
          <a:endParaRPr lang="en-US"/>
        </a:p>
      </dgm:t>
    </dgm:pt>
    <dgm:pt modelId="{62ACD83C-6FEA-48DC-9AA8-1B9C03882B52}" type="sibTrans" cxnId="{0CA63E23-DEAF-460A-A14C-E23FBF4D3806}">
      <dgm:prSet/>
      <dgm:spPr/>
      <dgm:t>
        <a:bodyPr/>
        <a:lstStyle/>
        <a:p>
          <a:endParaRPr lang="en-US"/>
        </a:p>
      </dgm:t>
    </dgm:pt>
    <dgm:pt modelId="{BF9CFD76-E423-479C-BEC2-7B203CD2C54E}" type="pres">
      <dgm:prSet presAssocID="{134DC480-BED0-4065-AE48-A1A907659E54}" presName="root" presStyleCnt="0">
        <dgm:presLayoutVars>
          <dgm:dir/>
          <dgm:resizeHandles val="exact"/>
        </dgm:presLayoutVars>
      </dgm:prSet>
      <dgm:spPr/>
    </dgm:pt>
    <dgm:pt modelId="{6801B322-8D51-4228-A6BA-70914696DCD2}" type="pres">
      <dgm:prSet presAssocID="{BDB6068C-68D1-449A-A2B5-824CE9CB1021}" presName="compNode" presStyleCnt="0"/>
      <dgm:spPr/>
    </dgm:pt>
    <dgm:pt modelId="{31A9DFF4-5622-47A7-90BD-7C080B5D15AC}" type="pres">
      <dgm:prSet presAssocID="{BDB6068C-68D1-449A-A2B5-824CE9CB1021}" presName="iconBgRect" presStyleLbl="bgShp" presStyleIdx="0" presStyleCnt="3"/>
      <dgm:spPr/>
    </dgm:pt>
    <dgm:pt modelId="{B414BD65-A29E-4843-8CC5-B0DBC946C5B0}" type="pres">
      <dgm:prSet presAssocID="{BDB6068C-68D1-449A-A2B5-824CE9CB10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5C96EBF-D881-43A6-BECC-65EC80BBF8AF}" type="pres">
      <dgm:prSet presAssocID="{BDB6068C-68D1-449A-A2B5-824CE9CB1021}" presName="spaceRect" presStyleCnt="0"/>
      <dgm:spPr/>
    </dgm:pt>
    <dgm:pt modelId="{5E048BD0-4BA9-4193-BE22-4C98EEA7D920}" type="pres">
      <dgm:prSet presAssocID="{BDB6068C-68D1-449A-A2B5-824CE9CB1021}" presName="textRect" presStyleLbl="revTx" presStyleIdx="0" presStyleCnt="3">
        <dgm:presLayoutVars>
          <dgm:chMax val="1"/>
          <dgm:chPref val="1"/>
        </dgm:presLayoutVars>
      </dgm:prSet>
      <dgm:spPr/>
    </dgm:pt>
    <dgm:pt modelId="{31DCB767-6B3B-457F-A96F-5F489C82DE4A}" type="pres">
      <dgm:prSet presAssocID="{00EDFA85-8791-4809-A1A4-BA946D38D35E}" presName="sibTrans" presStyleCnt="0"/>
      <dgm:spPr/>
    </dgm:pt>
    <dgm:pt modelId="{DCD24A1B-F0D3-409C-B8B5-36E785608AF3}" type="pres">
      <dgm:prSet presAssocID="{09C68E86-A1B1-40F7-B1A8-163964892090}" presName="compNode" presStyleCnt="0"/>
      <dgm:spPr/>
    </dgm:pt>
    <dgm:pt modelId="{215D874B-B0E2-4467-8C94-FC0194728D16}" type="pres">
      <dgm:prSet presAssocID="{09C68E86-A1B1-40F7-B1A8-163964892090}" presName="iconBgRect" presStyleLbl="bgShp" presStyleIdx="1" presStyleCnt="3"/>
      <dgm:spPr>
        <a:ln>
          <a:noFill/>
        </a:ln>
      </dgm:spPr>
    </dgm:pt>
    <dgm:pt modelId="{106E73D3-07C4-4987-BDA4-3E8D134AFF69}" type="pres">
      <dgm:prSet presAssocID="{09C68E86-A1B1-40F7-B1A8-1639648920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21ACC16-B591-439F-9256-2E3584051AC8}" type="pres">
      <dgm:prSet presAssocID="{09C68E86-A1B1-40F7-B1A8-163964892090}" presName="spaceRect" presStyleCnt="0"/>
      <dgm:spPr/>
    </dgm:pt>
    <dgm:pt modelId="{C6F76ABE-0457-450E-B610-1EB5F1FE1DB4}" type="pres">
      <dgm:prSet presAssocID="{09C68E86-A1B1-40F7-B1A8-163964892090}" presName="textRect" presStyleLbl="revTx" presStyleIdx="1" presStyleCnt="3">
        <dgm:presLayoutVars>
          <dgm:chMax val="1"/>
          <dgm:chPref val="1"/>
        </dgm:presLayoutVars>
      </dgm:prSet>
      <dgm:spPr/>
    </dgm:pt>
    <dgm:pt modelId="{01298A3C-6888-47CA-ADF9-4BDD60A47402}" type="pres">
      <dgm:prSet presAssocID="{4B53032C-630C-4436-9CEA-281E2B65A69A}" presName="sibTrans" presStyleCnt="0"/>
      <dgm:spPr/>
    </dgm:pt>
    <dgm:pt modelId="{521E1674-8859-4A84-B118-D99CC459378F}" type="pres">
      <dgm:prSet presAssocID="{9D73CAA9-61BE-4F52-9B4A-799F224EC7E0}" presName="compNode" presStyleCnt="0"/>
      <dgm:spPr/>
    </dgm:pt>
    <dgm:pt modelId="{3A9BAA67-07EE-40A1-B31F-B36B5FFD17B0}" type="pres">
      <dgm:prSet presAssocID="{9D73CAA9-61BE-4F52-9B4A-799F224EC7E0}" presName="iconBgRect" presStyleLbl="bgShp" presStyleIdx="2" presStyleCnt="3" custLinFactNeighborX="0" custLinFactNeighborY="2138"/>
      <dgm:spPr>
        <a:ln>
          <a:noFill/>
        </a:ln>
      </dgm:spPr>
    </dgm:pt>
    <dgm:pt modelId="{6F220CE1-781B-4C44-8E35-0733D77C8615}" type="pres">
      <dgm:prSet presAssocID="{9D73CAA9-61BE-4F52-9B4A-799F224EC7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7E68E83-6975-4690-BEEC-C738AC09633D}" type="pres">
      <dgm:prSet presAssocID="{9D73CAA9-61BE-4F52-9B4A-799F224EC7E0}" presName="spaceRect" presStyleCnt="0"/>
      <dgm:spPr/>
    </dgm:pt>
    <dgm:pt modelId="{494B2846-9969-4613-A1B3-E5B68D582EB7}" type="pres">
      <dgm:prSet presAssocID="{9D73CAA9-61BE-4F52-9B4A-799F224EC7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A63E23-DEAF-460A-A14C-E23FBF4D3806}" srcId="{134DC480-BED0-4065-AE48-A1A907659E54}" destId="{9D73CAA9-61BE-4F52-9B4A-799F224EC7E0}" srcOrd="2" destOrd="0" parTransId="{AD7B9B77-58DA-4B53-BF0D-0386B1D7D471}" sibTransId="{62ACD83C-6FEA-48DC-9AA8-1B9C03882B52}"/>
    <dgm:cxn modelId="{8E7A1925-763C-4690-9109-88AFD1CA52C6}" type="presOf" srcId="{9D73CAA9-61BE-4F52-9B4A-799F224EC7E0}" destId="{494B2846-9969-4613-A1B3-E5B68D582EB7}" srcOrd="0" destOrd="0" presId="urn:microsoft.com/office/officeart/2018/5/layout/IconCircleLabelList"/>
    <dgm:cxn modelId="{CC406735-7394-48B2-A7E1-44E444D98696}" type="presOf" srcId="{BDB6068C-68D1-449A-A2B5-824CE9CB1021}" destId="{5E048BD0-4BA9-4193-BE22-4C98EEA7D920}" srcOrd="0" destOrd="0" presId="urn:microsoft.com/office/officeart/2018/5/layout/IconCircleLabelList"/>
    <dgm:cxn modelId="{DC7D5A6C-9049-46C9-9F3D-25FF01A197C1}" srcId="{134DC480-BED0-4065-AE48-A1A907659E54}" destId="{09C68E86-A1B1-40F7-B1A8-163964892090}" srcOrd="1" destOrd="0" parTransId="{0184C944-B02F-4217-8752-FFC01719032D}" sibTransId="{4B53032C-630C-4436-9CEA-281E2B65A69A}"/>
    <dgm:cxn modelId="{5C570975-63A4-4694-BC8F-ED1306CCC1D9}" type="presOf" srcId="{134DC480-BED0-4065-AE48-A1A907659E54}" destId="{BF9CFD76-E423-479C-BEC2-7B203CD2C54E}" srcOrd="0" destOrd="0" presId="urn:microsoft.com/office/officeart/2018/5/layout/IconCircleLabelList"/>
    <dgm:cxn modelId="{E431E7A4-0EB6-450C-AA70-97C3966DCC10}" type="presOf" srcId="{09C68E86-A1B1-40F7-B1A8-163964892090}" destId="{C6F76ABE-0457-450E-B610-1EB5F1FE1DB4}" srcOrd="0" destOrd="0" presId="urn:microsoft.com/office/officeart/2018/5/layout/IconCircleLabelList"/>
    <dgm:cxn modelId="{F02BE4FB-CCFA-4DB3-A009-785634F78158}" srcId="{134DC480-BED0-4065-AE48-A1A907659E54}" destId="{BDB6068C-68D1-449A-A2B5-824CE9CB1021}" srcOrd="0" destOrd="0" parTransId="{5C7BF5A1-89D3-4B85-9FF2-E34E2581D705}" sibTransId="{00EDFA85-8791-4809-A1A4-BA946D38D35E}"/>
    <dgm:cxn modelId="{CFE65DB9-3939-40A6-8942-72C4B7474C64}" type="presParOf" srcId="{BF9CFD76-E423-479C-BEC2-7B203CD2C54E}" destId="{6801B322-8D51-4228-A6BA-70914696DCD2}" srcOrd="0" destOrd="0" presId="urn:microsoft.com/office/officeart/2018/5/layout/IconCircleLabelList"/>
    <dgm:cxn modelId="{4780D517-084A-42B2-9282-E0A9E9943615}" type="presParOf" srcId="{6801B322-8D51-4228-A6BA-70914696DCD2}" destId="{31A9DFF4-5622-47A7-90BD-7C080B5D15AC}" srcOrd="0" destOrd="0" presId="urn:microsoft.com/office/officeart/2018/5/layout/IconCircleLabelList"/>
    <dgm:cxn modelId="{F2F7AAC7-5346-49DC-828A-0D8C3B9954DE}" type="presParOf" srcId="{6801B322-8D51-4228-A6BA-70914696DCD2}" destId="{B414BD65-A29E-4843-8CC5-B0DBC946C5B0}" srcOrd="1" destOrd="0" presId="urn:microsoft.com/office/officeart/2018/5/layout/IconCircleLabelList"/>
    <dgm:cxn modelId="{1B6B4E3C-6FB9-46EB-A955-A60DC972C072}" type="presParOf" srcId="{6801B322-8D51-4228-A6BA-70914696DCD2}" destId="{85C96EBF-D881-43A6-BECC-65EC80BBF8AF}" srcOrd="2" destOrd="0" presId="urn:microsoft.com/office/officeart/2018/5/layout/IconCircleLabelList"/>
    <dgm:cxn modelId="{0ED69E12-7962-41BA-86CD-E5AAC67F38BD}" type="presParOf" srcId="{6801B322-8D51-4228-A6BA-70914696DCD2}" destId="{5E048BD0-4BA9-4193-BE22-4C98EEA7D920}" srcOrd="3" destOrd="0" presId="urn:microsoft.com/office/officeart/2018/5/layout/IconCircleLabelList"/>
    <dgm:cxn modelId="{CACEB736-62EB-4E41-9950-0BCFB2952CD3}" type="presParOf" srcId="{BF9CFD76-E423-479C-BEC2-7B203CD2C54E}" destId="{31DCB767-6B3B-457F-A96F-5F489C82DE4A}" srcOrd="1" destOrd="0" presId="urn:microsoft.com/office/officeart/2018/5/layout/IconCircleLabelList"/>
    <dgm:cxn modelId="{6E3C3654-FE69-479E-8083-1238EE995764}" type="presParOf" srcId="{BF9CFD76-E423-479C-BEC2-7B203CD2C54E}" destId="{DCD24A1B-F0D3-409C-B8B5-36E785608AF3}" srcOrd="2" destOrd="0" presId="urn:microsoft.com/office/officeart/2018/5/layout/IconCircleLabelList"/>
    <dgm:cxn modelId="{96AEE438-2F61-4D00-B645-3A3EB139080B}" type="presParOf" srcId="{DCD24A1B-F0D3-409C-B8B5-36E785608AF3}" destId="{215D874B-B0E2-4467-8C94-FC0194728D16}" srcOrd="0" destOrd="0" presId="urn:microsoft.com/office/officeart/2018/5/layout/IconCircleLabelList"/>
    <dgm:cxn modelId="{4A42517F-6697-4E93-8D92-C87D1466F901}" type="presParOf" srcId="{DCD24A1B-F0D3-409C-B8B5-36E785608AF3}" destId="{106E73D3-07C4-4987-BDA4-3E8D134AFF69}" srcOrd="1" destOrd="0" presId="urn:microsoft.com/office/officeart/2018/5/layout/IconCircleLabelList"/>
    <dgm:cxn modelId="{1EBBE9C3-2183-42B8-B4AE-131F866840FB}" type="presParOf" srcId="{DCD24A1B-F0D3-409C-B8B5-36E785608AF3}" destId="{021ACC16-B591-439F-9256-2E3584051AC8}" srcOrd="2" destOrd="0" presId="urn:microsoft.com/office/officeart/2018/5/layout/IconCircleLabelList"/>
    <dgm:cxn modelId="{7CC7C3FF-3EA9-45C0-A647-F1478536C2D0}" type="presParOf" srcId="{DCD24A1B-F0D3-409C-B8B5-36E785608AF3}" destId="{C6F76ABE-0457-450E-B610-1EB5F1FE1DB4}" srcOrd="3" destOrd="0" presId="urn:microsoft.com/office/officeart/2018/5/layout/IconCircleLabelList"/>
    <dgm:cxn modelId="{8E6F6ABB-B5E4-4288-8292-40D6149E32A9}" type="presParOf" srcId="{BF9CFD76-E423-479C-BEC2-7B203CD2C54E}" destId="{01298A3C-6888-47CA-ADF9-4BDD60A47402}" srcOrd="3" destOrd="0" presId="urn:microsoft.com/office/officeart/2018/5/layout/IconCircleLabelList"/>
    <dgm:cxn modelId="{4C87B086-8FAC-4DE5-9993-0F219CBAFC06}" type="presParOf" srcId="{BF9CFD76-E423-479C-BEC2-7B203CD2C54E}" destId="{521E1674-8859-4A84-B118-D99CC459378F}" srcOrd="4" destOrd="0" presId="urn:microsoft.com/office/officeart/2018/5/layout/IconCircleLabelList"/>
    <dgm:cxn modelId="{76686042-635A-4F1A-AA09-CF6707852487}" type="presParOf" srcId="{521E1674-8859-4A84-B118-D99CC459378F}" destId="{3A9BAA67-07EE-40A1-B31F-B36B5FFD17B0}" srcOrd="0" destOrd="0" presId="urn:microsoft.com/office/officeart/2018/5/layout/IconCircleLabelList"/>
    <dgm:cxn modelId="{0EE2DD21-B0E7-41F3-B8DF-91C34835DE05}" type="presParOf" srcId="{521E1674-8859-4A84-B118-D99CC459378F}" destId="{6F220CE1-781B-4C44-8E35-0733D77C8615}" srcOrd="1" destOrd="0" presId="urn:microsoft.com/office/officeart/2018/5/layout/IconCircleLabelList"/>
    <dgm:cxn modelId="{1D43CDA7-BAA3-4CBD-A666-FDC54F658E1F}" type="presParOf" srcId="{521E1674-8859-4A84-B118-D99CC459378F}" destId="{77E68E83-6975-4690-BEEC-C738AC09633D}" srcOrd="2" destOrd="0" presId="urn:microsoft.com/office/officeart/2018/5/layout/IconCircleLabelList"/>
    <dgm:cxn modelId="{DAA7C518-3D29-41E3-B604-DF938CD5747A}" type="presParOf" srcId="{521E1674-8859-4A84-B118-D99CC459378F}" destId="{494B2846-9969-4613-A1B3-E5B68D582E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9DFF4-5622-47A7-90BD-7C080B5D15AC}">
      <dsp:nvSpPr>
        <dsp:cNvPr id="0" name=""/>
        <dsp:cNvSpPr/>
      </dsp:nvSpPr>
      <dsp:spPr>
        <a:xfrm>
          <a:off x="649305" y="435600"/>
          <a:ext cx="1749937" cy="1749937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4BD65-A29E-4843-8CC5-B0DBC946C5B0}">
      <dsp:nvSpPr>
        <dsp:cNvPr id="0" name=""/>
        <dsp:cNvSpPr/>
      </dsp:nvSpPr>
      <dsp:spPr>
        <a:xfrm>
          <a:off x="1022243" y="808537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48BD0-4BA9-4193-BE22-4C98EEA7D920}">
      <dsp:nvSpPr>
        <dsp:cNvPr id="0" name=""/>
        <dsp:cNvSpPr/>
      </dsp:nvSpPr>
      <dsp:spPr>
        <a:xfrm>
          <a:off x="89899" y="273060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/>
            <a:t>Data Scaling </a:t>
          </a:r>
        </a:p>
      </dsp:txBody>
      <dsp:txXfrm>
        <a:off x="89899" y="2730600"/>
        <a:ext cx="2868750" cy="720000"/>
      </dsp:txXfrm>
    </dsp:sp>
    <dsp:sp modelId="{215D874B-B0E2-4467-8C94-FC0194728D16}">
      <dsp:nvSpPr>
        <dsp:cNvPr id="0" name=""/>
        <dsp:cNvSpPr/>
      </dsp:nvSpPr>
      <dsp:spPr>
        <a:xfrm>
          <a:off x="4020087" y="435600"/>
          <a:ext cx="1749937" cy="1749937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E73D3-07C4-4987-BDA4-3E8D134AFF69}">
      <dsp:nvSpPr>
        <dsp:cNvPr id="0" name=""/>
        <dsp:cNvSpPr/>
      </dsp:nvSpPr>
      <dsp:spPr>
        <a:xfrm>
          <a:off x="4393024" y="808537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76ABE-0457-450E-B610-1EB5F1FE1DB4}">
      <dsp:nvSpPr>
        <dsp:cNvPr id="0" name=""/>
        <dsp:cNvSpPr/>
      </dsp:nvSpPr>
      <dsp:spPr>
        <a:xfrm>
          <a:off x="3460681" y="273060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Parallel Trends Assumption</a:t>
          </a:r>
        </a:p>
      </dsp:txBody>
      <dsp:txXfrm>
        <a:off x="3460681" y="2730600"/>
        <a:ext cx="2868750" cy="720000"/>
      </dsp:txXfrm>
    </dsp:sp>
    <dsp:sp modelId="{3A9BAA67-07EE-40A1-B31F-B36B5FFD17B0}">
      <dsp:nvSpPr>
        <dsp:cNvPr id="0" name=""/>
        <dsp:cNvSpPr/>
      </dsp:nvSpPr>
      <dsp:spPr>
        <a:xfrm>
          <a:off x="7390868" y="473013"/>
          <a:ext cx="1749937" cy="1749937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20CE1-781B-4C44-8E35-0733D77C8615}">
      <dsp:nvSpPr>
        <dsp:cNvPr id="0" name=""/>
        <dsp:cNvSpPr/>
      </dsp:nvSpPr>
      <dsp:spPr>
        <a:xfrm>
          <a:off x="7763806" y="808537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B2846-9969-4613-A1B3-E5B68D582EB7}">
      <dsp:nvSpPr>
        <dsp:cNvPr id="0" name=""/>
        <dsp:cNvSpPr/>
      </dsp:nvSpPr>
      <dsp:spPr>
        <a:xfrm>
          <a:off x="6831462" y="2730600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Next Steps</a:t>
          </a:r>
        </a:p>
      </dsp:txBody>
      <dsp:txXfrm>
        <a:off x="6831462" y="2730600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6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ookdown.org/anta8363/fluoR_bookdown/stand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blichealth.columbia.edu/research/population-health-methods/difference-difference-estimation" TargetMode="Externa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6474663" cy="5253089"/>
          </a:xfrm>
        </p:spPr>
        <p:txBody>
          <a:bodyPr/>
          <a:lstStyle/>
          <a:p>
            <a:r>
              <a:rPr lang="en-US" dirty="0"/>
              <a:t>Week 10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39BCB-F79A-68FB-669B-4C066958230B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666159B-A761-2804-B5A9-1BDB0F36E2F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741454543"/>
              </p:ext>
            </p:extLst>
          </p:nvPr>
        </p:nvGraphicFramePr>
        <p:xfrm>
          <a:off x="1487488" y="2057400"/>
          <a:ext cx="9790112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CC60-E2BC-5B36-F46E-E641D88C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Scaling</a:t>
            </a:r>
          </a:p>
        </p:txBody>
      </p:sp>
    </p:spTree>
    <p:extLst>
      <p:ext uri="{BB962C8B-B14F-4D97-AF65-F5344CB8AC3E}">
        <p14:creationId xmlns:p14="http://schemas.microsoft.com/office/powerpoint/2010/main" val="697893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2CF4-CE07-FE71-0FA5-8792C35B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Data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C1032-0294-F462-F2F8-D853333AF80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3" y="2057401"/>
            <a:ext cx="9491545" cy="4119463"/>
          </a:xfrm>
        </p:spPr>
        <p:txBody>
          <a:bodyPr>
            <a:normAutofit/>
          </a:bodyPr>
          <a:lstStyle/>
          <a:p>
            <a:r>
              <a:rPr lang="en-US" dirty="0"/>
              <a:t>Incorporation of years 2018 and 2023</a:t>
            </a:r>
          </a:p>
          <a:p>
            <a:pPr lvl="1"/>
            <a:r>
              <a:rPr lang="en-US" dirty="0"/>
              <a:t>2023 test scores different and “incomparable” to years 2018-2022</a:t>
            </a:r>
          </a:p>
          <a:p>
            <a:r>
              <a:rPr lang="en-US" dirty="0"/>
              <a:t>Baseline z-score standardization, where 2019 values are used as a baseline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16D39-6F35-2E3B-1FB6-21527A9092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3FFFF"/>
              </a:clrFrom>
              <a:clrTo>
                <a:srgbClr val="F3FFFF">
                  <a:alpha val="0"/>
                </a:srgbClr>
              </a:clrTo>
            </a:clrChange>
            <a:duotone>
              <a:prstClr val="black"/>
              <a:srgbClr val="F9F4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3617" y="3953056"/>
            <a:ext cx="6761935" cy="234977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8B82C-AE35-6DC0-5813-25780A441D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C33C5-8459-F09C-4187-4C33FE03A964}"/>
              </a:ext>
            </a:extLst>
          </p:cNvPr>
          <p:cNvSpPr txBox="1"/>
          <p:nvPr/>
        </p:nvSpPr>
        <p:spPr>
          <a:xfrm>
            <a:off x="1347904" y="6269557"/>
            <a:ext cx="100505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Equation image from </a:t>
            </a:r>
            <a:r>
              <a:rPr lang="en-US" sz="800" dirty="0">
                <a:hlinkClick r:id="rId4"/>
              </a:rPr>
              <a:t>https://bookdown.org/anta8363/fluoR_bookdown/stand.html</a:t>
            </a:r>
            <a:endParaRPr lang="en-US" sz="800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939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8B1F-A1B5-80F9-982B-318816BE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Data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1A8F7-EE12-932D-066C-6664F827BA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4" y="2066731"/>
            <a:ext cx="6452876" cy="3867538"/>
          </a:xfrm>
        </p:spPr>
        <p:txBody>
          <a:bodyPr>
            <a:normAutofit/>
          </a:bodyPr>
          <a:lstStyle/>
          <a:p>
            <a:r>
              <a:rPr lang="en-US" dirty="0"/>
              <a:t>Unfortunately, the data scaling did not work for the year 2023</a:t>
            </a:r>
          </a:p>
          <a:p>
            <a:r>
              <a:rPr lang="en-US" dirty="0"/>
              <a:t>The difference in scores for 2023 is still obvious</a:t>
            </a:r>
          </a:p>
          <a:p>
            <a:r>
              <a:rPr lang="en-US" dirty="0"/>
              <a:t>Inclusion of 2018 should be acceptable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11E32-5887-5C7F-AB0B-D1B6EE5C4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1" y="4236075"/>
            <a:ext cx="4794135" cy="211807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8B785-6205-0BD2-170F-2C35F67531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7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C463-B0AB-E08D-A580-1027D3F3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Trends Assumption</a:t>
            </a:r>
          </a:p>
        </p:txBody>
      </p:sp>
    </p:spTree>
    <p:extLst>
      <p:ext uri="{BB962C8B-B14F-4D97-AF65-F5344CB8AC3E}">
        <p14:creationId xmlns:p14="http://schemas.microsoft.com/office/powerpoint/2010/main" val="410858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E1DC-21D5-33B8-34C8-EA72868D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Validation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E8B2A9-AEB8-FCF5-4799-0DF889604B7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468814" y="2051976"/>
            <a:ext cx="9808786" cy="3867538"/>
          </a:xfrm>
        </p:spPr>
        <p:txBody>
          <a:bodyPr/>
          <a:lstStyle/>
          <a:p>
            <a:r>
              <a:rPr lang="en-US" b="1" dirty="0"/>
              <a:t>Parallel Trends Assumption</a:t>
            </a:r>
            <a:r>
              <a:rPr lang="en-US" dirty="0"/>
              <a:t>: in the absence of treatment, the difference between the ‘treatment’ and ‘control’ group is constant over time*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best method of testing this assumption is a </a:t>
            </a:r>
            <a:r>
              <a:rPr lang="en-US" b="1" dirty="0"/>
              <a:t>placebo test in the pre-period</a:t>
            </a:r>
          </a:p>
          <a:p>
            <a:pPr lvl="1"/>
            <a:r>
              <a:rPr lang="en-US" sz="1800" dirty="0"/>
              <a:t>2018 becomes the new “pre-period” and 2019 the new “post-period”</a:t>
            </a:r>
          </a:p>
          <a:p>
            <a:pPr lvl="1"/>
            <a:r>
              <a:rPr lang="en-US" sz="1800" dirty="0"/>
              <a:t>Execute placebo model with new pre and post</a:t>
            </a:r>
          </a:p>
          <a:p>
            <a:pPr lvl="1"/>
            <a:r>
              <a:rPr lang="en-US" sz="1800" dirty="0"/>
              <a:t>Assessing trends from 2018 to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4C010-A3F5-0941-54F7-548E9CB6F22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7DEA4-FA24-B66F-0072-1C9EA6811E89}"/>
              </a:ext>
            </a:extLst>
          </p:cNvPr>
          <p:cNvSpPr txBox="1"/>
          <p:nvPr/>
        </p:nvSpPr>
        <p:spPr>
          <a:xfrm>
            <a:off x="1347904" y="6269557"/>
            <a:ext cx="1005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*Definition from </a:t>
            </a:r>
            <a:r>
              <a:rPr lang="en-US" sz="800" dirty="0">
                <a:hlinkClick r:id="rId2"/>
              </a:rPr>
              <a:t>https://www.publichealth.columbia.edu/research/population-health-methods/difference-difference-estimation</a:t>
            </a:r>
            <a:endParaRPr lang="en-US" sz="800" dirty="0"/>
          </a:p>
          <a:p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86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5411-2D74-D2CE-6D25-30261723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Validation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972B03C9-C211-9879-1E04-7EED4EC2AD1C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192591422"/>
              </p:ext>
            </p:extLst>
          </p:nvPr>
        </p:nvGraphicFramePr>
        <p:xfrm>
          <a:off x="1977942" y="2234348"/>
          <a:ext cx="8478024" cy="2926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119506">
                  <a:extLst>
                    <a:ext uri="{9D8B030D-6E8A-4147-A177-3AD203B41FA5}">
                      <a16:colId xmlns:a16="http://schemas.microsoft.com/office/drawing/2014/main" val="858348565"/>
                    </a:ext>
                  </a:extLst>
                </a:gridCol>
                <a:gridCol w="2119506">
                  <a:extLst>
                    <a:ext uri="{9D8B030D-6E8A-4147-A177-3AD203B41FA5}">
                      <a16:colId xmlns:a16="http://schemas.microsoft.com/office/drawing/2014/main" val="3546792725"/>
                    </a:ext>
                  </a:extLst>
                </a:gridCol>
                <a:gridCol w="2119506">
                  <a:extLst>
                    <a:ext uri="{9D8B030D-6E8A-4147-A177-3AD203B41FA5}">
                      <a16:colId xmlns:a16="http://schemas.microsoft.com/office/drawing/2014/main" val="2943714662"/>
                    </a:ext>
                  </a:extLst>
                </a:gridCol>
                <a:gridCol w="2119506">
                  <a:extLst>
                    <a:ext uri="{9D8B030D-6E8A-4147-A177-3AD203B41FA5}">
                      <a16:colId xmlns:a16="http://schemas.microsoft.com/office/drawing/2014/main" val="2215454996"/>
                    </a:ext>
                  </a:extLst>
                </a:gridCol>
              </a:tblGrid>
              <a:tr h="252458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Assumption Met?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00805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b="1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-0.0009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0.8371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467366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462675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06206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-0.0058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0.5272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66990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124642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74815"/>
                  </a:ext>
                </a:extLst>
              </a:tr>
              <a:tr h="252458">
                <a:tc>
                  <a:txBody>
                    <a:bodyPr/>
                    <a:lstStyle/>
                    <a:p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8692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370A8-C78E-FEE4-B046-3CBCE07B6A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E5EF7-ACFA-DF51-B7CB-B8219D5BFE88}"/>
              </a:ext>
            </a:extLst>
          </p:cNvPr>
          <p:cNvSpPr txBox="1"/>
          <p:nvPr/>
        </p:nvSpPr>
        <p:spPr>
          <a:xfrm>
            <a:off x="1977942" y="5620435"/>
            <a:ext cx="6366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p-value, if insignificant then assumption is 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Validated PTA: All grades, Grade 5, and Grade 8</a:t>
            </a:r>
          </a:p>
        </p:txBody>
      </p:sp>
    </p:spTree>
    <p:extLst>
      <p:ext uri="{BB962C8B-B14F-4D97-AF65-F5344CB8AC3E}">
        <p14:creationId xmlns:p14="http://schemas.microsoft.com/office/powerpoint/2010/main" val="138051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F203-1FF9-3873-6141-490F09BD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</p:spTree>
    <p:extLst>
      <p:ext uri="{BB962C8B-B14F-4D97-AF65-F5344CB8AC3E}">
        <p14:creationId xmlns:p14="http://schemas.microsoft.com/office/powerpoint/2010/main" val="390924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51E1-3C4E-576F-42C9-5673D4B8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2094C-BA99-9BF5-3B23-109E2E4127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9316562" cy="4119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Investigation of what to do if parallel trends assumption isn’t met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A More Credible Approach to Parallel Trends</a:t>
            </a:r>
            <a:r>
              <a:rPr lang="en-US" dirty="0"/>
              <a:t>, Rambachan &amp; Roth (2023)*</a:t>
            </a:r>
          </a:p>
          <a:p>
            <a:pPr marL="571500" lvl="1" indent="-342900"/>
            <a:r>
              <a:rPr lang="en-US" dirty="0"/>
              <a:t>Former research about the parallel trends assumption is binary, met or isn’t met</a:t>
            </a:r>
          </a:p>
          <a:p>
            <a:pPr marL="571500" lvl="1" indent="-342900"/>
            <a:r>
              <a:rPr lang="en-US" dirty="0"/>
              <a:t>Researchers suggest broadening that spectrum with sensitivity analysis, essentially asking “</a:t>
            </a:r>
            <a:r>
              <a:rPr lang="en-US" b="1" dirty="0"/>
              <a:t>how large of a violation does it need to be to affect results?”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57DA0-6559-8D91-BE18-985A20D7D1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0E8C-AF79-48CD-F720-41C1C3AFA2E5}"/>
              </a:ext>
            </a:extLst>
          </p:cNvPr>
          <p:cNvSpPr txBox="1"/>
          <p:nvPr/>
        </p:nvSpPr>
        <p:spPr>
          <a:xfrm>
            <a:off x="1347904" y="6269557"/>
            <a:ext cx="1005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*Rambachan &amp; Roth (2023), A More Credible Approach to Parallel Trends chrome-extension://</a:t>
            </a:r>
            <a:r>
              <a:rPr lang="en-US" sz="800" dirty="0" err="1"/>
              <a:t>efaidnbmnnnibpcajpcglclefindmkaj</a:t>
            </a:r>
            <a:r>
              <a:rPr lang="en-US" sz="800" dirty="0"/>
              <a:t>/https://www.jonathandroth.com/assets/files/HonestParallelTrends_Main.pdf</a:t>
            </a:r>
          </a:p>
          <a:p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321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BA38-A8B9-0ECF-EA18-535E8E63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FF0F-8058-2387-6C67-2F43795DFC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9617576" cy="386753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Rambachan &amp; Roth (2023) developed a package called </a:t>
            </a:r>
            <a:r>
              <a:rPr lang="en-US" dirty="0" err="1"/>
              <a:t>HonestDID</a:t>
            </a:r>
            <a:r>
              <a:rPr lang="en-US" dirty="0"/>
              <a:t> to assess sensitivity for parallel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issues with this:</a:t>
            </a:r>
          </a:p>
          <a:p>
            <a:pPr marL="1143000" lvl="1"/>
            <a:r>
              <a:rPr lang="en-US" sz="1900" dirty="0" err="1"/>
              <a:t>HonestDID</a:t>
            </a:r>
            <a:r>
              <a:rPr lang="en-US" sz="1900" dirty="0"/>
              <a:t> package is strictly for R and Stata</a:t>
            </a:r>
          </a:p>
          <a:p>
            <a:pPr marL="1143000" lvl="1"/>
            <a:r>
              <a:rPr lang="en-US" sz="1900" dirty="0"/>
              <a:t>Export from Python into R for results</a:t>
            </a:r>
          </a:p>
          <a:p>
            <a:pPr marL="1143000" lvl="1"/>
            <a:r>
              <a:rPr lang="en-US" sz="1900" dirty="0"/>
              <a:t>Would be converted into an event study</a:t>
            </a:r>
          </a:p>
          <a:p>
            <a:pPr marL="1600200" lvl="2"/>
            <a:r>
              <a:rPr lang="en-US" sz="1700" dirty="0"/>
              <a:t>Inclusion of poverty data for 2022</a:t>
            </a:r>
          </a:p>
          <a:p>
            <a:pPr marL="1600200" lvl="2"/>
            <a:r>
              <a:rPr lang="en-US" sz="1700" dirty="0"/>
              <a:t>Assessing pre vs post trends; in other words, how much did comprehension scores get better/worse in the post-period compared to the trends in the pre-period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60F27-0156-3B51-7B1F-226B913BBA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384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9554-AB91-2E36-C331-F052BCD91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73C21-67D6-B613-DA0E-9203327529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1" y="2057401"/>
            <a:ext cx="9808773" cy="4119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 1</a:t>
            </a:r>
            <a:r>
              <a:rPr lang="en-US" dirty="0"/>
              <a:t>: Pooled Ordinary Least Squares, baseline model without time or group fixed effects</a:t>
            </a:r>
          </a:p>
          <a:p>
            <a:pPr marL="571500" lvl="1" indent="-342900"/>
            <a:r>
              <a:rPr lang="en-US" b="1" dirty="0"/>
              <a:t>Pooled OLS</a:t>
            </a:r>
            <a:r>
              <a:rPr lang="en-US" dirty="0"/>
              <a:t>: treats all observations as independent, ignores panel 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 2</a:t>
            </a:r>
            <a:r>
              <a:rPr lang="en-US" dirty="0"/>
              <a:t>: TWFE, with </a:t>
            </a:r>
            <a:r>
              <a:rPr lang="en-US" dirty="0" err="1"/>
              <a:t>HonestDID</a:t>
            </a:r>
            <a:r>
              <a:rPr lang="en-US" dirty="0"/>
              <a:t> sensitivity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 3</a:t>
            </a:r>
            <a:r>
              <a:rPr lang="en-US" dirty="0"/>
              <a:t>: TWFE, with the inclusion of demographic control variables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4E1DA-D526-1558-5B8D-30D133B863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3828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172</TotalTime>
  <Words>502</Words>
  <Application>Microsoft Office PowerPoint</Application>
  <PresentationFormat>Widescreen</PresentationFormat>
  <Paragraphs>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Tisa Offc Serif Pro</vt:lpstr>
      <vt:lpstr>Univers Light</vt:lpstr>
      <vt:lpstr>Custom</vt:lpstr>
      <vt:lpstr>Week 10 Updates</vt:lpstr>
      <vt:lpstr>Agenda</vt:lpstr>
      <vt:lpstr>Data Scaling</vt:lpstr>
      <vt:lpstr>Data Scaling</vt:lpstr>
      <vt:lpstr>Data Scaling</vt:lpstr>
      <vt:lpstr>Parallel Trends Assumption</vt:lpstr>
      <vt:lpstr>Assumption Validation</vt:lpstr>
      <vt:lpstr>Assumption Validation</vt:lpstr>
      <vt:lpstr>What’s Next</vt:lpstr>
      <vt:lpstr>Going Forward</vt:lpstr>
      <vt:lpstr>Going Forward</vt:lpstr>
      <vt:lpstr>Tentative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2026-04-03T16:10:29Z</dcterms:created>
  <dcterms:modified xsi:type="dcterms:W3CDTF">2026-04-03T19:34:45Z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