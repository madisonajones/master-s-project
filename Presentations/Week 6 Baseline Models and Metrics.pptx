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22" r:id="rId5"/>
    <p:sldId id="323" r:id="rId6"/>
    <p:sldId id="324" r:id="rId7"/>
    <p:sldId id="327" r:id="rId8"/>
    <p:sldId id="328" r:id="rId9"/>
    <p:sldId id="325" r:id="rId10"/>
    <p:sldId id="32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FCC308-946F-47B6-870B-D7CA02315528}" v="8" dt="2026-02-27T03:58:14.429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5388" autoAdjust="0"/>
  </p:normalViewPr>
  <p:slideViewPr>
    <p:cSldViewPr snapToGrid="0">
      <p:cViewPr>
        <p:scale>
          <a:sx n="90" d="100"/>
          <a:sy n="90" d="100"/>
        </p:scale>
        <p:origin x="132" y="-195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ison Jones" userId="4347cae8-7c2b-4706-9465-46f5e461052a" providerId="ADAL" clId="{23AD2B71-142B-4412-B515-82A4DB346E58}"/>
    <pc:docChg chg="undo custSel addSld modSld sldOrd">
      <pc:chgData name="Madison Jones" userId="4347cae8-7c2b-4706-9465-46f5e461052a" providerId="ADAL" clId="{23AD2B71-142B-4412-B515-82A4DB346E58}" dt="2026-02-27T03:57:58.629" v="1706" actId="1076"/>
      <pc:docMkLst>
        <pc:docMk/>
      </pc:docMkLst>
      <pc:sldChg chg="modSp mod">
        <pc:chgData name="Madison Jones" userId="4347cae8-7c2b-4706-9465-46f5e461052a" providerId="ADAL" clId="{23AD2B71-142B-4412-B515-82A4DB346E58}" dt="2026-02-27T03:57:58.629" v="1706" actId="1076"/>
        <pc:sldMkLst>
          <pc:docMk/>
          <pc:sldMk cId="4238345039" sldId="323"/>
        </pc:sldMkLst>
        <pc:spChg chg="mod">
          <ac:chgData name="Madison Jones" userId="4347cae8-7c2b-4706-9465-46f5e461052a" providerId="ADAL" clId="{23AD2B71-142B-4412-B515-82A4DB346E58}" dt="2026-02-27T03:57:37.967" v="1704" actId="20577"/>
          <ac:spMkLst>
            <pc:docMk/>
            <pc:sldMk cId="4238345039" sldId="323"/>
            <ac:spMk id="2" creationId="{4C04C9AA-8ADA-13CD-5087-A030BA9AE615}"/>
          </ac:spMkLst>
        </pc:spChg>
        <pc:spChg chg="mod">
          <ac:chgData name="Madison Jones" userId="4347cae8-7c2b-4706-9465-46f5e461052a" providerId="ADAL" clId="{23AD2B71-142B-4412-B515-82A4DB346E58}" dt="2026-02-27T03:57:58.629" v="1706" actId="1076"/>
          <ac:spMkLst>
            <pc:docMk/>
            <pc:sldMk cId="4238345039" sldId="323"/>
            <ac:spMk id="3" creationId="{6847391F-6296-11E4-68EC-1DD6EB5F254F}"/>
          </ac:spMkLst>
        </pc:spChg>
        <pc:spChg chg="mod">
          <ac:chgData name="Madison Jones" userId="4347cae8-7c2b-4706-9465-46f5e461052a" providerId="ADAL" clId="{23AD2B71-142B-4412-B515-82A4DB346E58}" dt="2026-02-27T03:57:24.050" v="1693" actId="20577"/>
          <ac:spMkLst>
            <pc:docMk/>
            <pc:sldMk cId="4238345039" sldId="323"/>
            <ac:spMk id="9" creationId="{B95D3A30-E4D2-DBAC-C975-404551A5D9A0}"/>
          </ac:spMkLst>
        </pc:spChg>
        <pc:spChg chg="mod">
          <ac:chgData name="Madison Jones" userId="4347cae8-7c2b-4706-9465-46f5e461052a" providerId="ADAL" clId="{23AD2B71-142B-4412-B515-82A4DB346E58}" dt="2026-02-27T03:56:37.561" v="1672" actId="20577"/>
          <ac:spMkLst>
            <pc:docMk/>
            <pc:sldMk cId="4238345039" sldId="323"/>
            <ac:spMk id="13" creationId="{113B4C36-20F5-E822-4AE0-ABDCEDE9DEEE}"/>
          </ac:spMkLst>
        </pc:spChg>
        <pc:spChg chg="mod">
          <ac:chgData name="Madison Jones" userId="4347cae8-7c2b-4706-9465-46f5e461052a" providerId="ADAL" clId="{23AD2B71-142B-4412-B515-82A4DB346E58}" dt="2026-02-27T03:56:55.106" v="1688" actId="20577"/>
          <ac:spMkLst>
            <pc:docMk/>
            <pc:sldMk cId="4238345039" sldId="323"/>
            <ac:spMk id="14" creationId="{1E0F4748-2565-6A60-1D88-0A8297E940F5}"/>
          </ac:spMkLst>
        </pc:spChg>
      </pc:sldChg>
      <pc:sldChg chg="addSp modSp mod">
        <pc:chgData name="Madison Jones" userId="4347cae8-7c2b-4706-9465-46f5e461052a" providerId="ADAL" clId="{23AD2B71-142B-4412-B515-82A4DB346E58}" dt="2026-02-26T23:39:07.031" v="725" actId="255"/>
        <pc:sldMkLst>
          <pc:docMk/>
          <pc:sldMk cId="1869651041" sldId="324"/>
        </pc:sldMkLst>
        <pc:spChg chg="mod">
          <ac:chgData name="Madison Jones" userId="4347cae8-7c2b-4706-9465-46f5e461052a" providerId="ADAL" clId="{23AD2B71-142B-4412-B515-82A4DB346E58}" dt="2026-02-26T23:39:07.031" v="725" actId="255"/>
          <ac:spMkLst>
            <pc:docMk/>
            <pc:sldMk cId="1869651041" sldId="324"/>
            <ac:spMk id="11" creationId="{67D73630-E55A-8789-CEC9-2725573A5207}"/>
          </ac:spMkLst>
        </pc:spChg>
        <pc:spChg chg="add mod">
          <ac:chgData name="Madison Jones" userId="4347cae8-7c2b-4706-9465-46f5e461052a" providerId="ADAL" clId="{23AD2B71-142B-4412-B515-82A4DB346E58}" dt="2026-02-26T23:38:48.915" v="721" actId="5793"/>
          <ac:spMkLst>
            <pc:docMk/>
            <pc:sldMk cId="1869651041" sldId="324"/>
            <ac:spMk id="20" creationId="{416A0F9F-324C-12E9-ACE2-FD6FD0AFE578}"/>
          </ac:spMkLst>
        </pc:spChg>
        <pc:spChg chg="add mod">
          <ac:chgData name="Madison Jones" userId="4347cae8-7c2b-4706-9465-46f5e461052a" providerId="ADAL" clId="{23AD2B71-142B-4412-B515-82A4DB346E58}" dt="2026-02-26T23:38:44.247" v="717" actId="5793"/>
          <ac:spMkLst>
            <pc:docMk/>
            <pc:sldMk cId="1869651041" sldId="324"/>
            <ac:spMk id="21" creationId="{DC9C9D2B-148B-3066-A491-1E68484DB5D2}"/>
          </ac:spMkLst>
        </pc:spChg>
        <pc:spChg chg="add mod">
          <ac:chgData name="Madison Jones" userId="4347cae8-7c2b-4706-9465-46f5e461052a" providerId="ADAL" clId="{23AD2B71-142B-4412-B515-82A4DB346E58}" dt="2026-02-26T23:36:02.851" v="513" actId="1076"/>
          <ac:spMkLst>
            <pc:docMk/>
            <pc:sldMk cId="1869651041" sldId="324"/>
            <ac:spMk id="22" creationId="{2F9F4224-3BB7-9949-4373-F84CDFFE5CE7}"/>
          </ac:spMkLst>
        </pc:spChg>
        <pc:spChg chg="add mod">
          <ac:chgData name="Madison Jones" userId="4347cae8-7c2b-4706-9465-46f5e461052a" providerId="ADAL" clId="{23AD2B71-142B-4412-B515-82A4DB346E58}" dt="2026-02-26T23:37:26.494" v="573" actId="20577"/>
          <ac:spMkLst>
            <pc:docMk/>
            <pc:sldMk cId="1869651041" sldId="324"/>
            <ac:spMk id="23" creationId="{497B1D20-0DF3-1D4D-B284-4810AE795353}"/>
          </ac:spMkLst>
        </pc:spChg>
        <pc:spChg chg="add mod">
          <ac:chgData name="Madison Jones" userId="4347cae8-7c2b-4706-9465-46f5e461052a" providerId="ADAL" clId="{23AD2B71-142B-4412-B515-82A4DB346E58}" dt="2026-02-26T23:38:41.775" v="715" actId="5793"/>
          <ac:spMkLst>
            <pc:docMk/>
            <pc:sldMk cId="1869651041" sldId="324"/>
            <ac:spMk id="24" creationId="{957488A3-787C-7A58-C847-5B6A354761B7}"/>
          </ac:spMkLst>
        </pc:spChg>
      </pc:sldChg>
      <pc:sldChg chg="delSp modSp new mod ord">
        <pc:chgData name="Madison Jones" userId="4347cae8-7c2b-4706-9465-46f5e461052a" providerId="ADAL" clId="{23AD2B71-142B-4412-B515-82A4DB346E58}" dt="2026-02-26T23:44:54.906" v="762" actId="20577"/>
        <pc:sldMkLst>
          <pc:docMk/>
          <pc:sldMk cId="352270877" sldId="327"/>
        </pc:sldMkLst>
        <pc:spChg chg="mod">
          <ac:chgData name="Madison Jones" userId="4347cae8-7c2b-4706-9465-46f5e461052a" providerId="ADAL" clId="{23AD2B71-142B-4412-B515-82A4DB346E58}" dt="2026-02-26T23:44:54.906" v="762" actId="20577"/>
          <ac:spMkLst>
            <pc:docMk/>
            <pc:sldMk cId="352270877" sldId="327"/>
            <ac:spMk id="2" creationId="{04F0F9B3-FB21-FD34-CB74-0542E41EC008}"/>
          </ac:spMkLst>
        </pc:spChg>
        <pc:spChg chg="del">
          <ac:chgData name="Madison Jones" userId="4347cae8-7c2b-4706-9465-46f5e461052a" providerId="ADAL" clId="{23AD2B71-142B-4412-B515-82A4DB346E58}" dt="2026-02-26T23:44:45.795" v="733" actId="21"/>
          <ac:spMkLst>
            <pc:docMk/>
            <pc:sldMk cId="352270877" sldId="327"/>
            <ac:spMk id="3" creationId="{18C65E82-2E3B-F371-4A98-97A4A19C4B85}"/>
          </ac:spMkLst>
        </pc:spChg>
      </pc:sldChg>
      <pc:sldChg chg="delSp modSp new mod">
        <pc:chgData name="Madison Jones" userId="4347cae8-7c2b-4706-9465-46f5e461052a" providerId="ADAL" clId="{23AD2B71-142B-4412-B515-82A4DB346E58}" dt="2026-02-26T23:57:26.342" v="1665" actId="20577"/>
        <pc:sldMkLst>
          <pc:docMk/>
          <pc:sldMk cId="253189970" sldId="328"/>
        </pc:sldMkLst>
        <pc:spChg chg="mod">
          <ac:chgData name="Madison Jones" userId="4347cae8-7c2b-4706-9465-46f5e461052a" providerId="ADAL" clId="{23AD2B71-142B-4412-B515-82A4DB346E58}" dt="2026-02-26T23:45:05.171" v="776" actId="20577"/>
          <ac:spMkLst>
            <pc:docMk/>
            <pc:sldMk cId="253189970" sldId="328"/>
            <ac:spMk id="2" creationId="{6BEFDFA3-B86F-D062-DF5A-ADCCFBCA19D5}"/>
          </ac:spMkLst>
        </pc:spChg>
        <pc:spChg chg="mod">
          <ac:chgData name="Madison Jones" userId="4347cae8-7c2b-4706-9465-46f5e461052a" providerId="ADAL" clId="{23AD2B71-142B-4412-B515-82A4DB346E58}" dt="2026-02-26T23:57:26.342" v="1665" actId="20577"/>
          <ac:spMkLst>
            <pc:docMk/>
            <pc:sldMk cId="253189970" sldId="328"/>
            <ac:spMk id="3" creationId="{61C33EE3-7F37-D820-FC46-4D30381FE57E}"/>
          </ac:spMkLst>
        </pc:spChg>
        <pc:spChg chg="del">
          <ac:chgData name="Madison Jones" userId="4347cae8-7c2b-4706-9465-46f5e461052a" providerId="ADAL" clId="{23AD2B71-142B-4412-B515-82A4DB346E58}" dt="2026-02-26T23:45:09.413" v="777" actId="21"/>
          <ac:spMkLst>
            <pc:docMk/>
            <pc:sldMk cId="253189970" sldId="328"/>
            <ac:spMk id="4" creationId="{80DAA446-1113-5510-B0FE-698D1C1B96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7729833" cy="5253089"/>
          </a:xfrm>
        </p:spPr>
        <p:txBody>
          <a:bodyPr>
            <a:normAutofit/>
          </a:bodyPr>
          <a:lstStyle/>
          <a:p>
            <a:r>
              <a:rPr lang="en-US" sz="4800" dirty="0"/>
              <a:t>Week 6: Baseline Models and Metrics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4C9AA-8ADA-13CD-5087-A030BA9AE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47391F-6296-11E4-68EC-1DD6EB5F254F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0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5000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5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500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5000" i="1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5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5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5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5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5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5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𝑇𝑟𝑒𝑎𝑡𝑒𝑑</m:t>
                      </m:r>
                      <m:r>
                        <a:rPr lang="en-US" sz="5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5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50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47391F-6296-11E4-68EC-1DD6EB5F2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DC411-FDB2-4687-CCE5-368D5D52A3F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3499472-2209-3691-EA83-8D56179753C6}"/>
              </a:ext>
            </a:extLst>
          </p:cNvPr>
          <p:cNvCxnSpPr>
            <a:cxnSpLocks/>
          </p:cNvCxnSpPr>
          <p:nvPr/>
        </p:nvCxnSpPr>
        <p:spPr>
          <a:xfrm>
            <a:off x="3282622" y="3061253"/>
            <a:ext cx="1415273" cy="1989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95D3A30-E4D2-DBAC-C975-404551A5D9A0}"/>
              </a:ext>
            </a:extLst>
          </p:cNvPr>
          <p:cNvSpPr txBox="1"/>
          <p:nvPr/>
        </p:nvSpPr>
        <p:spPr>
          <a:xfrm>
            <a:off x="3756992" y="5195201"/>
            <a:ext cx="2050299" cy="553998"/>
          </a:xfrm>
          <a:prstGeom prst="rect">
            <a:avLst/>
          </a:prstGeom>
          <a:noFill/>
          <a:ln>
            <a:solidFill>
              <a:schemeClr val="accent3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Set of fixed effects for groups, schools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D418A0D-7526-8899-41E4-6EB544C6EB1B}"/>
              </a:ext>
            </a:extLst>
          </p:cNvPr>
          <p:cNvCxnSpPr>
            <a:cxnSpLocks/>
          </p:cNvCxnSpPr>
          <p:nvPr/>
        </p:nvCxnSpPr>
        <p:spPr>
          <a:xfrm>
            <a:off x="4986604" y="2976060"/>
            <a:ext cx="2004864" cy="2136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13B4C36-20F5-E822-4AE0-ABDCEDE9DEEE}"/>
              </a:ext>
            </a:extLst>
          </p:cNvPr>
          <p:cNvSpPr txBox="1"/>
          <p:nvPr/>
        </p:nvSpPr>
        <p:spPr>
          <a:xfrm>
            <a:off x="6096000" y="5210358"/>
            <a:ext cx="2050299" cy="784830"/>
          </a:xfrm>
          <a:prstGeom prst="rect">
            <a:avLst/>
          </a:prstGeom>
          <a:noFill/>
          <a:ln>
            <a:solidFill>
              <a:schemeClr val="accent3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Set of fixed effects for time, pre- and post-COVID.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0F4748-2565-6A60-1D88-0A8297E940F5}"/>
              </a:ext>
            </a:extLst>
          </p:cNvPr>
          <p:cNvSpPr txBox="1"/>
          <p:nvPr/>
        </p:nvSpPr>
        <p:spPr>
          <a:xfrm>
            <a:off x="8435008" y="5206983"/>
            <a:ext cx="3399878" cy="784830"/>
          </a:xfrm>
          <a:prstGeom prst="rect">
            <a:avLst/>
          </a:prstGeom>
          <a:noFill/>
          <a:ln>
            <a:solidFill>
              <a:schemeClr val="accent3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Coefficient is difference-in-differences effect. An interaction term of Treated * Post.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3320531-CEAD-C248-56A5-646082C04A71}"/>
              </a:ext>
            </a:extLst>
          </p:cNvPr>
          <p:cNvCxnSpPr>
            <a:cxnSpLocks/>
          </p:cNvCxnSpPr>
          <p:nvPr/>
        </p:nvCxnSpPr>
        <p:spPr>
          <a:xfrm>
            <a:off x="7392279" y="2862354"/>
            <a:ext cx="2627794" cy="2250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53D2EF3-D946-CDA4-A207-6719CCF96F80}"/>
              </a:ext>
            </a:extLst>
          </p:cNvPr>
          <p:cNvSpPr txBox="1"/>
          <p:nvPr/>
        </p:nvSpPr>
        <p:spPr>
          <a:xfrm>
            <a:off x="1417984" y="5195138"/>
            <a:ext cx="2050299" cy="784830"/>
          </a:xfrm>
          <a:prstGeom prst="rect">
            <a:avLst/>
          </a:prstGeom>
          <a:noFill/>
          <a:ln>
            <a:solidFill>
              <a:schemeClr val="accent3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Outcome variable. For example, mean score.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2ECE49D-9E92-0748-56FA-B527ABDDB020}"/>
              </a:ext>
            </a:extLst>
          </p:cNvPr>
          <p:cNvCxnSpPr>
            <a:cxnSpLocks/>
          </p:cNvCxnSpPr>
          <p:nvPr/>
        </p:nvCxnSpPr>
        <p:spPr>
          <a:xfrm>
            <a:off x="1793911" y="2976060"/>
            <a:ext cx="649222" cy="2090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345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B60A8-7039-53A0-401F-A7CE5774C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CDF43-5FB1-F2AE-911F-D8FAAD9CBFC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D3E7B5-5931-E055-1E54-6DFE59870829}"/>
              </a:ext>
            </a:extLst>
          </p:cNvPr>
          <p:cNvSpPr/>
          <p:nvPr/>
        </p:nvSpPr>
        <p:spPr>
          <a:xfrm>
            <a:off x="1281392" y="2158211"/>
            <a:ext cx="1700348" cy="3862062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CEBF26-0C0E-EC54-A40E-1CE1BDC694BF}"/>
              </a:ext>
            </a:extLst>
          </p:cNvPr>
          <p:cNvSpPr/>
          <p:nvPr/>
        </p:nvSpPr>
        <p:spPr>
          <a:xfrm>
            <a:off x="3347785" y="2158211"/>
            <a:ext cx="1700348" cy="3862062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15E7C71-03B9-FF28-679B-9AEFC49E0595}"/>
              </a:ext>
            </a:extLst>
          </p:cNvPr>
          <p:cNvSpPr/>
          <p:nvPr/>
        </p:nvSpPr>
        <p:spPr>
          <a:xfrm>
            <a:off x="5414178" y="2158211"/>
            <a:ext cx="1700348" cy="3862062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E6DD3E-B352-3A2A-AC3D-9728D6B20755}"/>
              </a:ext>
            </a:extLst>
          </p:cNvPr>
          <p:cNvSpPr/>
          <p:nvPr/>
        </p:nvSpPr>
        <p:spPr>
          <a:xfrm>
            <a:off x="7480571" y="2158211"/>
            <a:ext cx="1700348" cy="3862062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1132D3-9DE7-672C-6FD8-F8220ABE60D6}"/>
              </a:ext>
            </a:extLst>
          </p:cNvPr>
          <p:cNvSpPr/>
          <p:nvPr/>
        </p:nvSpPr>
        <p:spPr>
          <a:xfrm>
            <a:off x="9546964" y="2158211"/>
            <a:ext cx="1700348" cy="3862062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BD578D22-B28E-132C-6F3F-DC19EC67B31F}"/>
              </a:ext>
            </a:extLst>
          </p:cNvPr>
          <p:cNvSpPr/>
          <p:nvPr/>
        </p:nvSpPr>
        <p:spPr>
          <a:xfrm>
            <a:off x="1353474" y="1497778"/>
            <a:ext cx="1556184" cy="1544825"/>
          </a:xfrm>
          <a:prstGeom prst="flowChartConnector">
            <a:avLst/>
          </a:prstGeom>
          <a:solidFill>
            <a:schemeClr val="accent3">
              <a:lumMod val="2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Inputs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67D73630-E55A-8789-CEC9-2725573A5207}"/>
              </a:ext>
            </a:extLst>
          </p:cNvPr>
          <p:cNvSpPr/>
          <p:nvPr/>
        </p:nvSpPr>
        <p:spPr>
          <a:xfrm>
            <a:off x="3419867" y="1497777"/>
            <a:ext cx="1556184" cy="1544825"/>
          </a:xfrm>
          <a:prstGeom prst="flowChartConnector">
            <a:avLst/>
          </a:prstGeom>
          <a:solidFill>
            <a:schemeClr val="accent3">
              <a:lumMod val="2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Processing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5C1E1A45-FFB5-83B9-AE59-9AFA60100071}"/>
              </a:ext>
            </a:extLst>
          </p:cNvPr>
          <p:cNvSpPr/>
          <p:nvPr/>
        </p:nvSpPr>
        <p:spPr>
          <a:xfrm>
            <a:off x="5481693" y="1497776"/>
            <a:ext cx="1556184" cy="1544825"/>
          </a:xfrm>
          <a:prstGeom prst="flowChartConnector">
            <a:avLst/>
          </a:prstGeom>
          <a:solidFill>
            <a:schemeClr val="accent3">
              <a:lumMod val="2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57CA552A-A3A4-2EDB-B90A-72C48051E520}"/>
              </a:ext>
            </a:extLst>
          </p:cNvPr>
          <p:cNvSpPr/>
          <p:nvPr/>
        </p:nvSpPr>
        <p:spPr>
          <a:xfrm>
            <a:off x="7552653" y="1497775"/>
            <a:ext cx="1556184" cy="1544825"/>
          </a:xfrm>
          <a:prstGeom prst="flowChartConnector">
            <a:avLst/>
          </a:prstGeom>
          <a:solidFill>
            <a:schemeClr val="accent3">
              <a:lumMod val="2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Tuning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630EB65A-541B-9342-42EE-FA7A2135E1D8}"/>
              </a:ext>
            </a:extLst>
          </p:cNvPr>
          <p:cNvSpPr/>
          <p:nvPr/>
        </p:nvSpPr>
        <p:spPr>
          <a:xfrm>
            <a:off x="9619046" y="1497775"/>
            <a:ext cx="1556184" cy="1544825"/>
          </a:xfrm>
          <a:prstGeom prst="flowChartConnector">
            <a:avLst/>
          </a:prstGeom>
          <a:solidFill>
            <a:schemeClr val="accent3">
              <a:lumMod val="2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EA938D3-F4DC-E898-FBF7-BCABE7CFC4FD}"/>
              </a:ext>
            </a:extLst>
          </p:cNvPr>
          <p:cNvCxnSpPr/>
          <p:nvPr/>
        </p:nvCxnSpPr>
        <p:spPr>
          <a:xfrm>
            <a:off x="3035413" y="4120299"/>
            <a:ext cx="3123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1BD312A-5ECE-8357-A603-03B95CD21017}"/>
              </a:ext>
            </a:extLst>
          </p:cNvPr>
          <p:cNvCxnSpPr/>
          <p:nvPr/>
        </p:nvCxnSpPr>
        <p:spPr>
          <a:xfrm>
            <a:off x="5101806" y="4101668"/>
            <a:ext cx="3123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183D90B-FD67-3EC6-34B1-5BD2FFD7ED64}"/>
              </a:ext>
            </a:extLst>
          </p:cNvPr>
          <p:cNvCxnSpPr/>
          <p:nvPr/>
        </p:nvCxnSpPr>
        <p:spPr>
          <a:xfrm>
            <a:off x="7168199" y="4101668"/>
            <a:ext cx="3123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9F7807C-1974-279E-892F-416F26C10857}"/>
              </a:ext>
            </a:extLst>
          </p:cNvPr>
          <p:cNvCxnSpPr/>
          <p:nvPr/>
        </p:nvCxnSpPr>
        <p:spPr>
          <a:xfrm>
            <a:off x="9234592" y="4089242"/>
            <a:ext cx="3123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6A0F9F-324C-12E9-ACE2-FD6FD0AFE578}"/>
              </a:ext>
            </a:extLst>
          </p:cNvPr>
          <p:cNvSpPr txBox="1"/>
          <p:nvPr/>
        </p:nvSpPr>
        <p:spPr>
          <a:xfrm>
            <a:off x="1353474" y="3269376"/>
            <a:ext cx="155618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Time effects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Group (school) effects</a:t>
            </a:r>
          </a:p>
          <a:p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Group and time effects added to index, respectively</a:t>
            </a:r>
          </a:p>
          <a:p>
            <a:endParaRPr lang="en-US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DID (interaction term)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9C9D2B-148B-3066-A491-1E68484DB5D2}"/>
              </a:ext>
            </a:extLst>
          </p:cNvPr>
          <p:cNvSpPr txBox="1"/>
          <p:nvPr/>
        </p:nvSpPr>
        <p:spPr>
          <a:xfrm>
            <a:off x="3389436" y="3269376"/>
            <a:ext cx="155618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Treatment</a:t>
            </a:r>
            <a:r>
              <a:rPr lang="en-US" sz="1200" dirty="0"/>
              <a:t>: poverty % within school, converted to binary compared to avg.</a:t>
            </a:r>
          </a:p>
          <a:p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DID: calculated beforehand, using treated binary and post period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9F4224-3BB7-9949-4373-F84CDFFE5CE7}"/>
              </a:ext>
            </a:extLst>
          </p:cNvPr>
          <p:cNvSpPr txBox="1"/>
          <p:nvPr/>
        </p:nvSpPr>
        <p:spPr>
          <a:xfrm>
            <a:off x="9619046" y="3269374"/>
            <a:ext cx="15561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Model that accurately displays DID value, as well as validation metrics (errors, CI, p-value, etc.)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7B1D20-0DF3-1D4D-B284-4810AE795353}"/>
              </a:ext>
            </a:extLst>
          </p:cNvPr>
          <p:cNvSpPr txBox="1"/>
          <p:nvPr/>
        </p:nvSpPr>
        <p:spPr>
          <a:xfrm>
            <a:off x="5467851" y="3269374"/>
            <a:ext cx="1556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TWFE DID, simply using group and time fixed effects.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7488A3-787C-7A58-C847-5B6A354761B7}"/>
              </a:ext>
            </a:extLst>
          </p:cNvPr>
          <p:cNvSpPr txBox="1"/>
          <p:nvPr/>
        </p:nvSpPr>
        <p:spPr>
          <a:xfrm>
            <a:off x="7534244" y="3258741"/>
            <a:ext cx="15561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Inclusion of weights for number of students tested for fair comparison</a:t>
            </a:r>
          </a:p>
          <a:p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Split models based on grades and comprehension levels.</a:t>
            </a:r>
          </a:p>
        </p:txBody>
      </p:sp>
    </p:spTree>
    <p:extLst>
      <p:ext uri="{BB962C8B-B14F-4D97-AF65-F5344CB8AC3E}">
        <p14:creationId xmlns:p14="http://schemas.microsoft.com/office/powerpoint/2010/main" val="1869651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F9B3-FB21-FD34-CB74-0542E41EC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Jupyter Notebook Code</a:t>
            </a:r>
          </a:p>
        </p:txBody>
      </p:sp>
    </p:spTree>
    <p:extLst>
      <p:ext uri="{BB962C8B-B14F-4D97-AF65-F5344CB8AC3E}">
        <p14:creationId xmlns:p14="http://schemas.microsoft.com/office/powerpoint/2010/main" val="352270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FDFA3-B86F-D062-DF5A-ADCCFBCA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33EE3-7F37-D820-FC46-4D30381FE57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3" y="2057401"/>
            <a:ext cx="9514619" cy="4119463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Separation by grade</a:t>
            </a:r>
          </a:p>
          <a:p>
            <a:pPr marL="571500" lvl="1" indent="-342900"/>
            <a:r>
              <a:rPr lang="en-US" sz="1800" dirty="0"/>
              <a:t>Differences by grade level may be absorbed with “All Grades” model, making the model insignificant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Inclusion of comprehension levels (Levels 1-4) as outcome variables</a:t>
            </a:r>
          </a:p>
          <a:p>
            <a:pPr marL="571500" lvl="1" indent="-342900"/>
            <a:r>
              <a:rPr lang="en-US" sz="1800" dirty="0"/>
              <a:t>Currently using mean score as the outcome variable, this may not fully encompass movement across comprehension levels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Tuning of poverty categorization </a:t>
            </a:r>
          </a:p>
          <a:p>
            <a:pPr marL="571500" lvl="1" indent="-342900"/>
            <a:r>
              <a:rPr lang="en-US" sz="1800" dirty="0"/>
              <a:t>Currently categorized based off mean poverty levels of entire city, may be over or under categorizing.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Models for schools who have the same grade levels</a:t>
            </a:r>
          </a:p>
          <a:p>
            <a:pPr marL="571500" lvl="1" indent="-342900"/>
            <a:r>
              <a:rPr lang="en-US" sz="1800" dirty="0"/>
              <a:t>Some schools don’t include all grades 3-8. This relates to grade separation models to account for schools of similar structure.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955E1-4BD4-F14C-2A4B-F25777DD01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89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0B17-A39B-A102-CFAB-0000989E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46375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336D7-C75F-3DEE-318C-BAAFCB334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7CF6A-337D-2FEC-0345-0E4AD3A17B6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777D67-1075-67BA-511F-0A9DFA31B59F}"/>
              </a:ext>
            </a:extLst>
          </p:cNvPr>
          <p:cNvSpPr txBox="1"/>
          <p:nvPr/>
        </p:nvSpPr>
        <p:spPr>
          <a:xfrm>
            <a:off x="1333263" y="1931437"/>
            <a:ext cx="60969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https://theeffectbook.net/ch-DifferenceinDifference.html?panelset_001=python-code</a:t>
            </a:r>
          </a:p>
        </p:txBody>
      </p:sp>
    </p:spTree>
    <p:extLst>
      <p:ext uri="{BB962C8B-B14F-4D97-AF65-F5344CB8AC3E}">
        <p14:creationId xmlns:p14="http://schemas.microsoft.com/office/powerpoint/2010/main" val="133003511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Modern conference presentation</Template>
  <TotalTime>318</TotalTime>
  <Words>296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Cambria Math</vt:lpstr>
      <vt:lpstr>Tisa Offc Serif Pro</vt:lpstr>
      <vt:lpstr>Univers Light</vt:lpstr>
      <vt:lpstr>Custom</vt:lpstr>
      <vt:lpstr>Week 6: Baseline Models and Metrics</vt:lpstr>
      <vt:lpstr>Model Equation</vt:lpstr>
      <vt:lpstr>Pipeline</vt:lpstr>
      <vt:lpstr>Jupyter Notebook Code</vt:lpstr>
      <vt:lpstr>What’s next?</vt:lpstr>
      <vt:lpstr>Thank you!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Madison Jones</dc:creator>
  <cp:lastModifiedBy>Madison Jones</cp:lastModifiedBy>
  <cp:revision>1</cp:revision>
  <dcterms:created xsi:type="dcterms:W3CDTF">2026-02-26T22:40:03Z</dcterms:created>
  <dcterms:modified xsi:type="dcterms:W3CDTF">2026-02-27T03:58:24Z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