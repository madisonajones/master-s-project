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2" r:id="rId5"/>
    <p:sldId id="323" r:id="rId6"/>
    <p:sldId id="324" r:id="rId7"/>
    <p:sldId id="325" r:id="rId8"/>
    <p:sldId id="326" r:id="rId9"/>
    <p:sldId id="32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B413D-595C-43A9-A8DB-B225C2A35A5E}" v="1" dt="2026-04-10T15:54:23.256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5388" autoAdjust="0"/>
  </p:normalViewPr>
  <p:slideViewPr>
    <p:cSldViewPr snapToGrid="0">
      <p:cViewPr>
        <p:scale>
          <a:sx n="80" d="100"/>
          <a:sy n="80" d="100"/>
        </p:scale>
        <p:origin x="339" y="13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Jones" userId="4347cae8-7c2b-4706-9465-46f5e461052a" providerId="ADAL" clId="{23AD2B71-142B-4412-B515-82A4DB346E58}"/>
    <pc:docChg chg="modSld">
      <pc:chgData name="Madison Jones" userId="4347cae8-7c2b-4706-9465-46f5e461052a" providerId="ADAL" clId="{23AD2B71-142B-4412-B515-82A4DB346E58}" dt="2026-04-10T15:54:23.256" v="0"/>
      <pc:docMkLst>
        <pc:docMk/>
      </pc:docMkLst>
      <pc:sldChg chg="addSp modSp">
        <pc:chgData name="Madison Jones" userId="4347cae8-7c2b-4706-9465-46f5e461052a" providerId="ADAL" clId="{23AD2B71-142B-4412-B515-82A4DB346E58}" dt="2026-04-10T15:54:23.256" v="0"/>
        <pc:sldMkLst>
          <pc:docMk/>
          <pc:sldMk cId="3378822495" sldId="322"/>
        </pc:sldMkLst>
        <pc:spChg chg="add mod">
          <ac:chgData name="Madison Jones" userId="4347cae8-7c2b-4706-9465-46f5e461052a" providerId="ADAL" clId="{23AD2B71-142B-4412-B515-82A4DB346E58}" dt="2026-04-10T15:54:23.256" v="0"/>
          <ac:spMkLst>
            <pc:docMk/>
            <pc:sldMk cId="3378822495" sldId="322"/>
            <ac:spMk id="3" creationId="{A8675F90-FE73-6205-CB30-5F284864D65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7724785" cy="5253089"/>
          </a:xfrm>
        </p:spPr>
        <p:txBody>
          <a:bodyPr/>
          <a:lstStyle/>
          <a:p>
            <a:r>
              <a:rPr lang="en-US" dirty="0"/>
              <a:t>Week 11 Updates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75F90-FE73-6205-CB30-5F284864D653}"/>
              </a:ext>
            </a:extLst>
          </p:cNvPr>
          <p:cNvSpPr txBox="1"/>
          <p:nvPr/>
        </p:nvSpPr>
        <p:spPr>
          <a:xfrm>
            <a:off x="1317615" y="5844323"/>
            <a:ext cx="3680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Madison Jones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Master’s Project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B01D-49CD-4D5C-6FC4-B4B566A6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HonestDID</a:t>
            </a:r>
            <a:r>
              <a:rPr lang="en-US" dirty="0"/>
              <a:t> 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9698-943C-7B7C-8F88-858857F6B41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 err="1"/>
              <a:t>HonestDID</a:t>
            </a:r>
            <a:r>
              <a:rPr lang="en-US" b="1" dirty="0"/>
              <a:t> package</a:t>
            </a:r>
            <a:r>
              <a:rPr lang="en-US" dirty="0"/>
              <a:t>: Robustness check for model bias due to parallel trends assumption</a:t>
            </a:r>
          </a:p>
          <a:p>
            <a:r>
              <a:rPr lang="en-US" dirty="0"/>
              <a:t>Developed by Rambachan &amp; Roth (2023)</a:t>
            </a:r>
          </a:p>
          <a:p>
            <a:r>
              <a:rPr lang="en-US" dirty="0"/>
              <a:t>Based on magnitude, </a:t>
            </a:r>
            <a:r>
              <a:rPr lang="en-US" i="1" dirty="0"/>
              <a:t>M</a:t>
            </a:r>
            <a:r>
              <a:rPr lang="en-US" dirty="0"/>
              <a:t>, on 0 – 2 scale</a:t>
            </a:r>
          </a:p>
          <a:p>
            <a:pPr lvl="1"/>
            <a:r>
              <a:rPr lang="en-US" b="1" i="1" dirty="0"/>
              <a:t>M</a:t>
            </a:r>
            <a:r>
              <a:rPr lang="en-US" b="1" dirty="0"/>
              <a:t> = 0 – 1</a:t>
            </a:r>
            <a:r>
              <a:rPr lang="en-US" dirty="0"/>
              <a:t>: fragile model, results explained by pre-trend</a:t>
            </a:r>
          </a:p>
          <a:p>
            <a:pPr lvl="1"/>
            <a:r>
              <a:rPr lang="en-US" b="1" i="1" dirty="0"/>
              <a:t>M</a:t>
            </a:r>
            <a:r>
              <a:rPr lang="en-US" b="1" dirty="0"/>
              <a:t> = 1 – 2</a:t>
            </a:r>
            <a:r>
              <a:rPr lang="en-US" dirty="0"/>
              <a:t>: moderate robustness</a:t>
            </a:r>
          </a:p>
          <a:p>
            <a:pPr lvl="1"/>
            <a:r>
              <a:rPr lang="en-US" b="1" i="1" dirty="0"/>
              <a:t>M</a:t>
            </a:r>
            <a:r>
              <a:rPr lang="en-US" b="1" dirty="0"/>
              <a:t> &gt; 2</a:t>
            </a:r>
            <a:r>
              <a:rPr lang="en-US" dirty="0"/>
              <a:t>: strong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1BAF4-CCC6-41E9-086D-9365FBBA0F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740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3554-3ED8-FF0E-A685-43DC1512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HonestDID</a:t>
            </a:r>
            <a:r>
              <a:rPr lang="en-US" dirty="0"/>
              <a:t> 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060A4-4D15-E093-9CD6-25110237ECE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Exported coefficients and variance-covariance matrices from Python </a:t>
            </a:r>
            <a:r>
              <a:rPr lang="en-US" dirty="0" err="1"/>
              <a:t>PanelOLS</a:t>
            </a:r>
            <a:r>
              <a:rPr lang="en-US" dirty="0"/>
              <a:t> models</a:t>
            </a:r>
          </a:p>
          <a:p>
            <a:endParaRPr lang="en-US" dirty="0"/>
          </a:p>
          <a:p>
            <a:r>
              <a:rPr lang="en-US" dirty="0"/>
              <a:t>Ran relative magnitudes for each model using coefficients and 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773F6-B579-77D0-F22A-EC5FA4323F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76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C77F-F536-83EA-657F-5DB186DC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HonestDID</a:t>
            </a:r>
            <a:r>
              <a:rPr lang="en-US" dirty="0"/>
              <a:t> R Analysis Conclusions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6DA4B23-EB9E-2559-F9C8-0C0A7BE3B78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250168665"/>
              </p:ext>
            </p:extLst>
          </p:nvPr>
        </p:nvGraphicFramePr>
        <p:xfrm>
          <a:off x="1449388" y="2108200"/>
          <a:ext cx="8553450" cy="25958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51150">
                  <a:extLst>
                    <a:ext uri="{9D8B030D-6E8A-4147-A177-3AD203B41FA5}">
                      <a16:colId xmlns:a16="http://schemas.microsoft.com/office/drawing/2014/main" val="418428898"/>
                    </a:ext>
                  </a:extLst>
                </a:gridCol>
                <a:gridCol w="2851150">
                  <a:extLst>
                    <a:ext uri="{9D8B030D-6E8A-4147-A177-3AD203B41FA5}">
                      <a16:colId xmlns:a16="http://schemas.microsoft.com/office/drawing/2014/main" val="3724665108"/>
                    </a:ext>
                  </a:extLst>
                </a:gridCol>
                <a:gridCol w="2851150">
                  <a:extLst>
                    <a:ext uri="{9D8B030D-6E8A-4147-A177-3AD203B41FA5}">
                      <a16:colId xmlns:a16="http://schemas.microsoft.com/office/drawing/2014/main" val="3492454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Magnitude (</a:t>
                      </a:r>
                      <a:r>
                        <a:rPr lang="en-US" i="1" dirty="0"/>
                        <a:t>M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725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042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16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77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95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01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42456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1B42C-187C-7143-2326-EBCABF4653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AED2F-7FD4-42FC-6E9A-D17B7EA5D8C9}"/>
              </a:ext>
            </a:extLst>
          </p:cNvPr>
          <p:cNvSpPr txBox="1"/>
          <p:nvPr/>
        </p:nvSpPr>
        <p:spPr>
          <a:xfrm>
            <a:off x="1449387" y="5069228"/>
            <a:ext cx="8620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Based off </a:t>
            </a:r>
            <a:r>
              <a:rPr lang="en-US" b="1" dirty="0" err="1"/>
              <a:t>HonestDID</a:t>
            </a:r>
            <a:r>
              <a:rPr lang="en-US" b="1" dirty="0"/>
              <a:t> analysis, models for grades 3 and 4 are robust.</a:t>
            </a:r>
          </a:p>
          <a:p>
            <a:r>
              <a:rPr lang="en-US" dirty="0"/>
              <a:t>Models for grades 5 – 8 are not, despite placebo test saying otherwise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Parallel trends is a very hard thing to test according to research on event studies and DID! </a:t>
            </a:r>
          </a:p>
        </p:txBody>
      </p:sp>
    </p:spTree>
    <p:extLst>
      <p:ext uri="{BB962C8B-B14F-4D97-AF65-F5344CB8AC3E}">
        <p14:creationId xmlns:p14="http://schemas.microsoft.com/office/powerpoint/2010/main" val="1891088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5388-FD70-D52A-D567-8E0F5505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F8387-6F26-C831-25C1-9F5C199172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CF5648-351D-4AA2-DA83-989DE8B9C2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6605267"/>
              </p:ext>
            </p:extLst>
          </p:nvPr>
        </p:nvGraphicFramePr>
        <p:xfrm>
          <a:off x="1449388" y="2108200"/>
          <a:ext cx="8553450" cy="25958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51150">
                  <a:extLst>
                    <a:ext uri="{9D8B030D-6E8A-4147-A177-3AD203B41FA5}">
                      <a16:colId xmlns:a16="http://schemas.microsoft.com/office/drawing/2014/main" val="418428898"/>
                    </a:ext>
                  </a:extLst>
                </a:gridCol>
                <a:gridCol w="2851150">
                  <a:extLst>
                    <a:ext uri="{9D8B030D-6E8A-4147-A177-3AD203B41FA5}">
                      <a16:colId xmlns:a16="http://schemas.microsoft.com/office/drawing/2014/main" val="3724665108"/>
                    </a:ext>
                  </a:extLst>
                </a:gridCol>
                <a:gridCol w="2851150">
                  <a:extLst>
                    <a:ext uri="{9D8B030D-6E8A-4147-A177-3AD203B41FA5}">
                      <a16:colId xmlns:a16="http://schemas.microsoft.com/office/drawing/2014/main" val="3492454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Period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725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-0.0511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042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-0.0715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16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77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0.0867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95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01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-0.0106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4245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5DD8F5-42A5-26FC-CD1F-2720720277B6}"/>
              </a:ext>
            </a:extLst>
          </p:cNvPr>
          <p:cNvSpPr txBox="1"/>
          <p:nvPr/>
        </p:nvSpPr>
        <p:spPr>
          <a:xfrm>
            <a:off x="1449388" y="4991342"/>
            <a:ext cx="63658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every 1 percentage point increase in poverty, a school’s mean ELA score dropped 0.051 points between 2018 and 2022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12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C72B-33DE-5723-B9E5-25751371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146FD1-C82B-A989-530B-CE94F922FFC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7145460" y="3560792"/>
            <a:ext cx="3836715" cy="28864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5024C-B398-5AEA-4A57-D5FB4CDA2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42564-FC16-D0B6-6F73-EE448D6F02A1}"/>
              </a:ext>
            </a:extLst>
          </p:cNvPr>
          <p:cNvSpPr txBox="1"/>
          <p:nvPr/>
        </p:nvSpPr>
        <p:spPr>
          <a:xfrm>
            <a:off x="1550504" y="1766325"/>
            <a:ext cx="39926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 1 or Option 4 template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EDA graphs, results charts in discussion section, magnitude graphs from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FC943A-A6E5-3599-5D4B-7498404DF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493" y="310868"/>
            <a:ext cx="3842682" cy="288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895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32</TotalTime>
  <Words>243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Tisa Offc Serif Pro</vt:lpstr>
      <vt:lpstr>Univers Light</vt:lpstr>
      <vt:lpstr>Custom</vt:lpstr>
      <vt:lpstr>Week 11 Updates</vt:lpstr>
      <vt:lpstr>HonestDID R Analysis</vt:lpstr>
      <vt:lpstr>HonestDID R Analysis</vt:lpstr>
      <vt:lpstr>HonestDID R Analysis Conclusions</vt:lpstr>
      <vt:lpstr>Models </vt:lpstr>
      <vt:lpstr>Poster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2026-04-10T15:22:20Z</dcterms:created>
  <dcterms:modified xsi:type="dcterms:W3CDTF">2026-04-10T15:54:32Z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